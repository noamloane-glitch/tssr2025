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Montserrat SemiBold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Proxima Nova"/>
      <p:regular r:id="rId42"/>
      <p:bold r:id="rId43"/>
      <p:italic r:id="rId44"/>
      <p:boldItalic r:id="rId45"/>
    </p:embeddedFont>
    <p:embeddedFont>
      <p:font typeface="Montserrat"/>
      <p:regular r:id="rId46"/>
      <p:bold r:id="rId47"/>
      <p:italic r:id="rId48"/>
      <p:boldItalic r:id="rId49"/>
    </p:embeddedFont>
    <p:embeddedFont>
      <p:font typeface="Montserrat Medium"/>
      <p:regular r:id="rId50"/>
      <p:bold r:id="rId51"/>
      <p:italic r:id="rId52"/>
      <p:boldItalic r:id="rId53"/>
    </p:embeddedFont>
    <p:embeddedFont>
      <p:font typeface="Varela Round"/>
      <p:regular r:id="rId54"/>
    </p:embeddedFont>
    <p:embeddedFont>
      <p:font typeface="Raleway Light"/>
      <p:regular r:id="rId55"/>
      <p:bold r:id="rId56"/>
      <p:italic r:id="rId57"/>
      <p:boldItalic r:id="rId58"/>
    </p:embeddedFont>
    <p:embeddedFont>
      <p:font typeface="Helvetica Neue"/>
      <p:regular r:id="rId59"/>
      <p:bold r:id="rId60"/>
      <p:italic r:id="rId61"/>
      <p:boldItalic r:id="rId62"/>
    </p:embeddedFont>
    <p:embeddedFont>
      <p:font typeface="Montserrat ExtraBold"/>
      <p:bold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ProximaNova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ProximaNova-italic.fntdata"/><Relationship Id="rId43" Type="http://schemas.openxmlformats.org/officeDocument/2006/relationships/font" Target="fonts/ProximaNova-bold.fntdata"/><Relationship Id="rId46" Type="http://schemas.openxmlformats.org/officeDocument/2006/relationships/font" Target="fonts/Montserrat-regular.fntdata"/><Relationship Id="rId45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33" Type="http://schemas.openxmlformats.org/officeDocument/2006/relationships/font" Target="fonts/Raleway-boldItalic.fntdata"/><Relationship Id="rId32" Type="http://schemas.openxmlformats.org/officeDocument/2006/relationships/font" Target="fonts/Raleway-italic.fntdata"/><Relationship Id="rId35" Type="http://schemas.openxmlformats.org/officeDocument/2006/relationships/font" Target="fonts/MontserratSemiBold-bold.fntdata"/><Relationship Id="rId34" Type="http://schemas.openxmlformats.org/officeDocument/2006/relationships/font" Target="fonts/MontserratSemiBold-regular.fntdata"/><Relationship Id="rId37" Type="http://schemas.openxmlformats.org/officeDocument/2006/relationships/font" Target="fonts/MontserratSemiBold-boldItalic.fntdata"/><Relationship Id="rId36" Type="http://schemas.openxmlformats.org/officeDocument/2006/relationships/font" Target="fonts/MontserratSemiBold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62" Type="http://schemas.openxmlformats.org/officeDocument/2006/relationships/font" Target="fonts/HelveticaNeue-boldItalic.fntdata"/><Relationship Id="rId61" Type="http://schemas.openxmlformats.org/officeDocument/2006/relationships/font" Target="fonts/HelveticaNeue-italic.fntdata"/><Relationship Id="rId20" Type="http://schemas.openxmlformats.org/officeDocument/2006/relationships/slide" Target="slides/slide16.xml"/><Relationship Id="rId64" Type="http://schemas.openxmlformats.org/officeDocument/2006/relationships/font" Target="fonts/MontserratExtraBold-boldItalic.fntdata"/><Relationship Id="rId63" Type="http://schemas.openxmlformats.org/officeDocument/2006/relationships/font" Target="fonts/MontserratExtraBold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HelveticaNeue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MontserratMedium-bold.fntdata"/><Relationship Id="rId50" Type="http://schemas.openxmlformats.org/officeDocument/2006/relationships/font" Target="fonts/MontserratMedium-regular.fntdata"/><Relationship Id="rId53" Type="http://schemas.openxmlformats.org/officeDocument/2006/relationships/font" Target="fonts/MontserratMedium-boldItalic.fntdata"/><Relationship Id="rId52" Type="http://schemas.openxmlformats.org/officeDocument/2006/relationships/font" Target="fonts/MontserratMedium-italic.fntdata"/><Relationship Id="rId11" Type="http://schemas.openxmlformats.org/officeDocument/2006/relationships/slide" Target="slides/slide7.xml"/><Relationship Id="rId55" Type="http://schemas.openxmlformats.org/officeDocument/2006/relationships/font" Target="fonts/RalewayLight-regular.fntdata"/><Relationship Id="rId10" Type="http://schemas.openxmlformats.org/officeDocument/2006/relationships/slide" Target="slides/slide6.xml"/><Relationship Id="rId54" Type="http://schemas.openxmlformats.org/officeDocument/2006/relationships/font" Target="fonts/VarelaRound-regular.fntdata"/><Relationship Id="rId13" Type="http://schemas.openxmlformats.org/officeDocument/2006/relationships/slide" Target="slides/slide9.xml"/><Relationship Id="rId57" Type="http://schemas.openxmlformats.org/officeDocument/2006/relationships/font" Target="fonts/RalewayLight-italic.fntdata"/><Relationship Id="rId12" Type="http://schemas.openxmlformats.org/officeDocument/2006/relationships/slide" Target="slides/slide8.xml"/><Relationship Id="rId56" Type="http://schemas.openxmlformats.org/officeDocument/2006/relationships/font" Target="fonts/RalewayLight-bold.fntdata"/><Relationship Id="rId15" Type="http://schemas.openxmlformats.org/officeDocument/2006/relationships/slide" Target="slides/slide11.xml"/><Relationship Id="rId59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58" Type="http://schemas.openxmlformats.org/officeDocument/2006/relationships/font" Target="fonts/RalewayLigh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cc0012f0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g2acc0012f0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38bd1b54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a138bd1b5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cc0012f0c_0_1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g2acc0012f0c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acc0012f0c_0_1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2acc0012f0c_0_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cc0012f0c_0_1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2acc0012f0c_0_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cc0012f0c_0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g2acc0012f0c_0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08df8521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g3a08df8521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08df85211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g3a08df85211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08df85211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g3a08df85211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41d862492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341d862492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1d8624921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g341d8624921_0_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1d8624921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g341d8624921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41d8624921_0_1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g341d8624921_0_1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1d8624921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g341d8624921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1d8624921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g341d8624921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41d8624921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g341d8624921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1d8624921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g341d8624921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1d8624921_0_1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g341d8624921_0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1d8624921_0_1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g341d8624921_0_1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41d8624921_0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g341d8624921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41d8624921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g341d8624921_0_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1d8624921_0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g341d8624921_0_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08df85211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g3a08df85211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acc0012f0c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2acc0012f0c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acc0012f0c_0_1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2acc0012f0c_0_1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" type="title">
  <p:cSld name="TITLE">
    <p:bg>
      <p:bgPr>
        <a:solidFill>
          <a:srgbClr val="F76C6C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0900" y="769825"/>
            <a:ext cx="2442474" cy="360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title"/>
          </p:nvPr>
        </p:nvSpPr>
        <p:spPr>
          <a:xfrm>
            <a:off x="1835550" y="159845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3036450" y="3225675"/>
            <a:ext cx="307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solidFill>
          <a:srgbClr val="F99797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170290" y="771750"/>
            <a:ext cx="2803416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 1">
  <p:cSld name="TITLE_1_1">
    <p:bg>
      <p:bgPr>
        <a:solidFill>
          <a:srgbClr val="F76C6C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b="258" l="0" r="0" t="258"/>
          <a:stretch/>
        </p:blipFill>
        <p:spPr>
          <a:xfrm rot="10800000">
            <a:off x="3170289" y="771750"/>
            <a:ext cx="2803417" cy="35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title"/>
          </p:nvPr>
        </p:nvSpPr>
        <p:spPr>
          <a:xfrm>
            <a:off x="1835550" y="1787700"/>
            <a:ext cx="54729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lvl="2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lvl="3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lvl="4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lvl="5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lvl="6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lvl="7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lvl="8">
              <a:buNone/>
              <a:defRPr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99150" y="1973574"/>
            <a:ext cx="3545702" cy="1196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ONE_COLUMN_TEXT">
    <p:bg>
      <p:bgPr>
        <a:solidFill>
          <a:srgbClr val="F99797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254900" y="1718925"/>
            <a:ext cx="27837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title"/>
          </p:nvPr>
        </p:nvSpPr>
        <p:spPr>
          <a:xfrm>
            <a:off x="3962400" y="2002350"/>
            <a:ext cx="39726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3600"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038600" y="2679825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aleway"/>
              <a:buAutoNum type="arabicPeriod"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0" name="Google Shape;3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0000" y="180000"/>
            <a:ext cx="1718375" cy="59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025" y="777875"/>
            <a:ext cx="3414675" cy="26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">
  <p:cSld name="ONE_COLUMN_TEXT_2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pic>
        <p:nvPicPr>
          <p:cNvPr id="37" name="Google Shape;37;p7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1245600" y="882000"/>
            <a:ext cx="67914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3" type="subTitle"/>
          </p:nvPr>
        </p:nvSpPr>
        <p:spPr>
          <a:xfrm>
            <a:off x="1249200" y="1414800"/>
            <a:ext cx="6790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4" type="body"/>
          </p:nvPr>
        </p:nvSpPr>
        <p:spPr>
          <a:xfrm>
            <a:off x="1249200" y="1998600"/>
            <a:ext cx="67914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Section Split">
  <p:cSld name="ONE_COLUMN_TEXT_2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-15875" y="-2650"/>
            <a:ext cx="9180000" cy="720000"/>
          </a:xfrm>
          <a:prstGeom prst="rect">
            <a:avLst/>
          </a:prstGeom>
          <a:solidFill>
            <a:srgbClr val="F76C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1171250" y="-2650"/>
            <a:ext cx="2338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3129050" y="190800"/>
            <a:ext cx="2783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126000" y="1998600"/>
            <a:ext cx="44259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●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○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3B424E"/>
              </a:buClr>
              <a:buSzPts val="1400"/>
              <a:buFont typeface="Raleway"/>
              <a:buChar char="■"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3" type="title"/>
          </p:nvPr>
        </p:nvSpPr>
        <p:spPr>
          <a:xfrm>
            <a:off x="126815" y="1009050"/>
            <a:ext cx="44259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76C6C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4" type="subTitle"/>
          </p:nvPr>
        </p:nvSpPr>
        <p:spPr>
          <a:xfrm>
            <a:off x="126815" y="1719575"/>
            <a:ext cx="4425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76C6C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buNone/>
              <a:defRPr>
                <a:solidFill>
                  <a:srgbClr val="3B424E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 with Patern">
  <p:cSld name="ONE_COLUMN_TEXT_2_1_1">
    <p:bg>
      <p:bgPr>
        <a:solidFill>
          <a:srgbClr val="F76C6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637" y="1"/>
            <a:ext cx="6372362" cy="51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Colored">
  <p:cSld name="ONE_COLUMN_TEXT_2_1_1_2">
    <p:bg>
      <p:bgPr>
        <a:solidFill>
          <a:srgbClr val="F76C6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/>
          <p:cNvPicPr preferRelativeResize="0"/>
          <p:nvPr/>
        </p:nvPicPr>
        <p:blipFill rotWithShape="1">
          <a:blip r:embed="rId2">
            <a:alphaModFix/>
          </a:blip>
          <a:srcRect b="0" l="0" r="51271" t="0"/>
          <a:stretch/>
        </p:blipFill>
        <p:spPr>
          <a:xfrm>
            <a:off x="126000" y="127800"/>
            <a:ext cx="686432" cy="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Patern">
  <p:cSld name="ONE_COLUMN_TEXT_2_1_1_1"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000" y="0"/>
            <a:ext cx="6371999" cy="51695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ONE_COLUMN_TEXT_2_1_1_1_1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2"/>
          <p:cNvPicPr preferRelativeResize="0"/>
          <p:nvPr/>
        </p:nvPicPr>
        <p:blipFill rotWithShape="1">
          <a:blip r:embed="rId2">
            <a:alphaModFix/>
          </a:blip>
          <a:srcRect b="24814" l="12345" r="49024" t="24809"/>
          <a:stretch/>
        </p:blipFill>
        <p:spPr>
          <a:xfrm>
            <a:off x="126000" y="126000"/>
            <a:ext cx="686425" cy="48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14584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Char char="●"/>
              <a:defRPr b="1"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">
  <p:cSld name="ONE_COLUMN_TEXT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1">
  <p:cSld name="TITLE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">
  <p:cSld name="ONE_COLUMN_TEXT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89" name="Google Shape;89;p18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1">
  <p:cSld name="ONE_COLUMN_TEXT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2">
  <p:cSld name="TITLE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2">
  <p:cSld name="ONE_COLUMN_TEXT_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3">
  <p:cSld name="ONE_COLUMN_TEXT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principal 3">
  <p:cSld name="TITLE_5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460950" y="2762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1001250" y="985375"/>
            <a:ext cx="71415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3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" name="Google Shape;121;p23"/>
          <p:cNvSpPr txBox="1"/>
          <p:nvPr>
            <p:ph idx="2" type="subTitle"/>
          </p:nvPr>
        </p:nvSpPr>
        <p:spPr>
          <a:xfrm>
            <a:off x="1036975" y="4423800"/>
            <a:ext cx="44784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1036975" y="4666700"/>
            <a:ext cx="42903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&amp; contenu 4">
  <p:cSld name="ONE_COLUMN_TEXT_5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211625" y="440925"/>
            <a:ext cx="28080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621650" y="2501050"/>
            <a:ext cx="20817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3650375" y="1033675"/>
            <a:ext cx="5110500" cy="30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&amp; text 1">
  <p:cSld name="ONE_COLUMN_TEXT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ild Code School" id="130" name="Google Shape;130;p25"/>
          <p:cNvPicPr preferRelativeResize="0"/>
          <p:nvPr/>
        </p:nvPicPr>
        <p:blipFill rotWithShape="1">
          <a:blip r:embed="rId2">
            <a:alphaModFix/>
          </a:blip>
          <a:srcRect b="0" l="0" r="38336" t="0"/>
          <a:stretch/>
        </p:blipFill>
        <p:spPr>
          <a:xfrm>
            <a:off x="4385478" y="0"/>
            <a:ext cx="4758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type="title"/>
          </p:nvPr>
        </p:nvSpPr>
        <p:spPr>
          <a:xfrm>
            <a:off x="375875" y="440925"/>
            <a:ext cx="36792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913127" y="2501050"/>
            <a:ext cx="2727600" cy="12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">
  <p:cSld name="TITLE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1">
  <p:cSld name="TITLE_2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2">
  <p:cSld name="TITLE_6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 2 1">
  <p:cSld name="TITLE_6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450503" y="4447448"/>
            <a:ext cx="8239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type="title"/>
          </p:nvPr>
        </p:nvSpPr>
        <p:spPr>
          <a:xfrm>
            <a:off x="452436" y="965622"/>
            <a:ext cx="82392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Char char="●"/>
              <a:defRPr sz="4400"/>
            </a:lvl1pPr>
            <a:lvl2pPr lvl="1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2pPr>
            <a:lvl3pPr lvl="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3pPr>
            <a:lvl4pPr lvl="3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4pPr>
            <a:lvl5pPr lvl="4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5pPr>
            <a:lvl6pPr lvl="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6pPr>
            <a:lvl7pPr lvl="6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●"/>
              <a:defRPr/>
            </a:lvl7pPr>
            <a:lvl8pPr lvl="7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○"/>
              <a:defRPr/>
            </a:lvl8pPr>
            <a:lvl9pPr lvl="8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450503" y="2708696"/>
            <a:ext cx="8239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gnu.org/software/bash/manual/" TargetMode="External"/><Relationship Id="rId4" Type="http://schemas.openxmlformats.org/officeDocument/2006/relationships/hyperlink" Target="https://fr.wikibooks.org/wiki/Programmation_Bash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wiki.bash-hackers.org" TargetMode="External"/><Relationship Id="rId6" Type="http://schemas.openxmlformats.org/officeDocument/2006/relationships/hyperlink" Target="http://mywiki.wooledge.org/BashGuide" TargetMode="External"/><Relationship Id="rId7" Type="http://schemas.openxmlformats.org/officeDocument/2006/relationships/hyperlink" Target="https://explainshell.com/" TargetMode="External"/><Relationship Id="rId8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58" name="Google Shape;1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033" y="-988226"/>
            <a:ext cx="5613778" cy="409565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500562" y="4905375"/>
            <a:ext cx="1383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1099884" y="1116375"/>
            <a:ext cx="46965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3800">
                <a:latin typeface="Montserrat ExtraBold"/>
                <a:ea typeface="Montserrat ExtraBold"/>
                <a:cs typeface="Montserrat ExtraBold"/>
                <a:sym typeface="Montserrat ExtraBold"/>
              </a:rPr>
              <a:t>Les scripts Bash</a:t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3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1118264" y="3108465"/>
            <a:ext cx="33867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roxima Nova"/>
              <a:buNone/>
            </a:pPr>
            <a:r>
              <a:rPr lang="fr">
                <a:latin typeface="Montserrat Medium"/>
                <a:ea typeface="Montserrat Medium"/>
                <a:cs typeface="Montserrat Medium"/>
                <a:sym typeface="Montserrat Medium"/>
              </a:rPr>
              <a:t>Partie 3 - Structuration du code</a:t>
            </a:r>
            <a:endParaRPr sz="1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66" name="Google Shape;1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3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68" name="Google Shape;168;p31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Sommaire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9" name="Google Shape;169;p31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Au menu :</a:t>
            </a:r>
            <a:endParaRPr sz="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70" name="Google Shape;170;p31"/>
          <p:cNvGrpSpPr/>
          <p:nvPr/>
        </p:nvGrpSpPr>
        <p:grpSpPr>
          <a:xfrm>
            <a:off x="2054304" y="2295701"/>
            <a:ext cx="4924070" cy="438638"/>
            <a:chOff x="4269994" y="8021650"/>
            <a:chExt cx="13130853" cy="1169700"/>
          </a:xfrm>
        </p:grpSpPr>
        <p:sp>
          <p:nvSpPr>
            <p:cNvPr id="171" name="Google Shape;171;p31"/>
            <p:cNvSpPr txBox="1"/>
            <p:nvPr/>
          </p:nvSpPr>
          <p:spPr>
            <a:xfrm>
              <a:off x="4269994" y="8021650"/>
              <a:ext cx="1573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02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2" name="Google Shape;172;p31"/>
            <p:cNvSpPr txBox="1"/>
            <p:nvPr/>
          </p:nvSpPr>
          <p:spPr>
            <a:xfrm>
              <a:off x="6983047" y="8160250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Usages et bonnes pratiques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73" name="Google Shape;173;p31"/>
          <p:cNvGrpSpPr/>
          <p:nvPr/>
        </p:nvGrpSpPr>
        <p:grpSpPr>
          <a:xfrm>
            <a:off x="2054304" y="1669435"/>
            <a:ext cx="4924070" cy="438638"/>
            <a:chOff x="4269994" y="6149551"/>
            <a:chExt cx="13130853" cy="1169700"/>
          </a:xfrm>
        </p:grpSpPr>
        <p:sp>
          <p:nvSpPr>
            <p:cNvPr id="174" name="Google Shape;174;p31"/>
            <p:cNvSpPr txBox="1"/>
            <p:nvPr/>
          </p:nvSpPr>
          <p:spPr>
            <a:xfrm>
              <a:off x="4269994" y="6149551"/>
              <a:ext cx="1195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146B"/>
                </a:buClr>
                <a:buSzPts val="2600"/>
                <a:buFont typeface="Arial"/>
                <a:buNone/>
              </a:pPr>
              <a:r>
                <a:rPr i="0" lang="fr" sz="2600" u="none" cap="none" strike="noStrike">
                  <a:solidFill>
                    <a:srgbClr val="F7146B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01</a:t>
              </a:r>
              <a:endParaRPr sz="500"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sp>
          <p:nvSpPr>
            <p:cNvPr id="175" name="Google Shape;175;p31"/>
            <p:cNvSpPr txBox="1"/>
            <p:nvPr/>
          </p:nvSpPr>
          <p:spPr>
            <a:xfrm>
              <a:off x="6983047" y="6288151"/>
              <a:ext cx="10417800" cy="8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fr" sz="1900"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Les fonctions</a:t>
              </a:r>
              <a:endParaRPr sz="1900"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cxnSp>
        <p:nvCxnSpPr>
          <p:cNvPr id="177" name="Google Shape;177;p3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182" name="Google Shape;182;p32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4" name="Google Shape;184;p32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185" name="Google Shape;1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3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187" name="Google Shape;187;p32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8" name="Google Shape;188;p32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3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95" name="Google Shape;195;p33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Fonction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Une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fonction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est un bloc de code nommé qu'on déclare pour pouvoir l'utiliser plus tard, éventuellement plusieurs fois.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Elles permettent de structurer son code, de favoriser sa réutilisation, sa maintenance, etc.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Attention : les fonctions doivent être déclarées avant d'être appelées, donc en général placée en début de script.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199" name="Google Shape;1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01" name="Google Shape;201;p33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3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09" name="Google Shape;209;p34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Déclarer une fonction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Ma première fonction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Syntaxe 1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function nom()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{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instructions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Syntaxe 2 (sans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function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)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nom()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{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instructions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13" name="Google Shape;213;p34"/>
          <p:cNvSpPr/>
          <p:nvPr/>
        </p:nvSpPr>
        <p:spPr>
          <a:xfrm>
            <a:off x="5442750" y="141012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Declaring the hello function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function hello()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echo "Hi folks !"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hello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"and again"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hello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FF00"/>
                </a:solidFill>
              </a:rPr>
              <a:t>wilder@host</a:t>
            </a:r>
            <a:r>
              <a:rPr lang="fr">
                <a:solidFill>
                  <a:schemeClr val="lt1"/>
                </a:solidFill>
              </a:rPr>
              <a:t>:</a:t>
            </a:r>
            <a:r>
              <a:rPr lang="fr">
                <a:solidFill>
                  <a:schemeClr val="dk1"/>
                </a:solidFill>
              </a:rPr>
              <a:t>~</a:t>
            </a:r>
            <a:r>
              <a:rPr lang="fr">
                <a:solidFill>
                  <a:schemeClr val="lt1"/>
                </a:solidFill>
              </a:rPr>
              <a:t>$</a:t>
            </a:r>
            <a:r>
              <a:rPr lang="fr">
                <a:solidFill>
                  <a:schemeClr val="lt1"/>
                </a:solidFill>
              </a:rPr>
              <a:t> ./script.sh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Hi folks 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and again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Hi folks !</a:t>
            </a:r>
            <a:endParaRPr>
              <a:solidFill>
                <a:srgbClr val="00FF00"/>
              </a:solidFill>
            </a:endParaRPr>
          </a:p>
        </p:txBody>
      </p:sp>
      <p:pic>
        <p:nvPicPr>
          <p:cNvPr descr="icone_wild_code_school.png" id="214" name="Google Shape;21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3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16" name="Google Shape;216;p34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8" name="Google Shape;218;p34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3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24" name="Google Shape;224;p35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Fonctions et paramètres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Des fonctions adaptables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1971155" y="1455275"/>
            <a:ext cx="3471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Un appel de fonction peut être suivi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d'arguments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On les récupère dans la fonction comme les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paramètres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d'un script.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8" name="Google Shape;228;p35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function hello() { echo "Hi folks !";}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greet()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if [ $# -gt 0 ]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then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    		echo "Hi $1"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else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    		hello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fi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greet wilder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greet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cone_wild_code_school.png" id="229" name="Google Shape;2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3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31" name="Google Shape;231;p35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3" name="Google Shape;233;p35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3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39" name="Google Shape;239;p36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Valeur de retour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1" name="Google Shape;241;p36"/>
          <p:cNvSpPr txBox="1"/>
          <p:nvPr/>
        </p:nvSpPr>
        <p:spPr>
          <a:xfrm>
            <a:off x="1971155" y="1455275"/>
            <a:ext cx="35562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2 façon de sortir une valeur depuis une fonction :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eturn &lt;code&gt;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envoi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un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code de sortie numérique entre 0 et 255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Proxima Nova"/>
              <a:buChar char="-"/>
            </a:pP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echo &lt;valeur texte&gt;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 : envoi une 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valeur texte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43" name="Google Shape;2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3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45" name="Google Shape;245;p36"/>
          <p:cNvSpPr/>
          <p:nvPr/>
        </p:nvSpPr>
        <p:spPr>
          <a:xfrm>
            <a:off x="5442750" y="1409675"/>
            <a:ext cx="3408900" cy="3495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fonc_calcul()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somme=$(($1 + $2))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echo $somme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"Donne 2 nombres"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read -p "Le premier ? " nbr1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read -p "le second ? " nbr2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resultat=$(fonc_calcul $nbr1 $nbr2)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"Le résultat de la somme de $nbr1 et $nbr2 est $resultat"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51" name="Google Shape;251;p37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Périmètre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1971159" y="1455272"/>
            <a:ext cx="69486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Par défaut, dans un script une variable est globale c.a.d. que sa valeur est connue dans l’ensemble du script.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Pour que la valeur reste dans la fonction où elle est déclarée, il faut utiliser le mot clé </a:t>
            </a:r>
            <a:r>
              <a:rPr b="1" lang="fr" sz="1900">
                <a:latin typeface="Proxima Nova"/>
                <a:ea typeface="Proxima Nova"/>
                <a:cs typeface="Proxima Nova"/>
                <a:sym typeface="Proxima Nova"/>
              </a:rPr>
              <a:t>local</a:t>
            </a: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3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55" name="Google Shape;25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3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57" name="Google Shape;257;p37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9" name="Google Shape;259;p37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4" name="Google Shape;264;p3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65" name="Google Shape;265;p38"/>
          <p:cNvSpPr txBox="1"/>
          <p:nvPr/>
        </p:nvSpPr>
        <p:spPr>
          <a:xfrm>
            <a:off x="355088" y="978909"/>
            <a:ext cx="3833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Périmètre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Définition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7" name="Google Shape;267;p3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68" name="Google Shape;26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70" name="Google Shape;270;p38"/>
          <p:cNvSpPr/>
          <p:nvPr/>
        </p:nvSpPr>
        <p:spPr>
          <a:xfrm>
            <a:off x="5442750" y="1906475"/>
            <a:ext cx="3408900" cy="29988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test_fonc()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local var="Bonjour"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var="Au revoir"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test_fonc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"$var"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1" name="Google Shape;271;p38"/>
          <p:cNvSpPr/>
          <p:nvPr/>
        </p:nvSpPr>
        <p:spPr>
          <a:xfrm>
            <a:off x="1802775" y="1906350"/>
            <a:ext cx="3408900" cy="29988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test_fonc()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{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var="Bonjour"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var="Au revoir"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test_fonc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"$var"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1802775" y="1455275"/>
            <a:ext cx="71169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Proxima Nova"/>
                <a:ea typeface="Proxima Nova"/>
                <a:cs typeface="Proxima Nova"/>
                <a:sym typeface="Proxima Nova"/>
              </a:rPr>
              <a:t>Exécute les 2 scripts suivant pour voir la différence.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5" name="Google Shape;275;p38"/>
          <p:cNvSpPr/>
          <p:nvPr/>
        </p:nvSpPr>
        <p:spPr>
          <a:xfrm>
            <a:off x="2946613" y="347588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e_wild_code_school.png" id="280" name="Google Shape;280;p39"/>
          <p:cNvPicPr preferRelativeResize="0"/>
          <p:nvPr/>
        </p:nvPicPr>
        <p:blipFill rotWithShape="1">
          <a:blip r:embed="rId3">
            <a:alphaModFix amt="5319"/>
          </a:blip>
          <a:srcRect b="0" l="0" r="0" t="0"/>
          <a:stretch/>
        </p:blipFill>
        <p:spPr>
          <a:xfrm>
            <a:off x="-341617" y="-1174284"/>
            <a:ext cx="10269126" cy="749206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9"/>
          <p:cNvSpPr txBox="1"/>
          <p:nvPr/>
        </p:nvSpPr>
        <p:spPr>
          <a:xfrm>
            <a:off x="1311075" y="2327513"/>
            <a:ext cx="65220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8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3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2" name="Google Shape;282;p39"/>
          <p:cNvSpPr txBox="1"/>
          <p:nvPr>
            <p:ph idx="12" type="sldNum"/>
          </p:nvPr>
        </p:nvSpPr>
        <p:spPr>
          <a:xfrm>
            <a:off x="4500563" y="4905375"/>
            <a:ext cx="214800" cy="1617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fld id="{00000000-1234-1234-1234-123412341234}" type="slidenum">
              <a:rPr lang="fr" sz="800"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e_wild_code_school.png" id="283" name="Google Shape;2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39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85" name="Google Shape;285;p39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4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293" name="Google Shape;293;p40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Mettre un shebang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Bien commencer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1971150" y="1455275"/>
            <a:ext cx="66378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Cela permet de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spécifier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dès le début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l'interpréteur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de commandes qui est utilisé.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6" name="Google Shape;296;p4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297" name="Google Shape;2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4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299" name="Google Shape;299;p40"/>
          <p:cNvSpPr/>
          <p:nvPr/>
        </p:nvSpPr>
        <p:spPr>
          <a:xfrm>
            <a:off x="1880825" y="2379905"/>
            <a:ext cx="6728100" cy="614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"Hello !"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1818175" y="3270275"/>
            <a:ext cx="447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pour une meilleure portabilité : </a:t>
            </a:r>
            <a:endParaRPr/>
          </a:p>
        </p:txBody>
      </p:sp>
      <p:sp>
        <p:nvSpPr>
          <p:cNvPr id="301" name="Google Shape;301;p40"/>
          <p:cNvSpPr/>
          <p:nvPr/>
        </p:nvSpPr>
        <p:spPr>
          <a:xfrm>
            <a:off x="1880825" y="3835555"/>
            <a:ext cx="6728100" cy="614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</a:t>
            </a:r>
            <a:r>
              <a:rPr lang="fr">
                <a:solidFill>
                  <a:schemeClr val="lt1"/>
                </a:solidFill>
              </a:rPr>
              <a:t>!/usr/bin/env 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"Hello !"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4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10" name="Google Shape;310;p41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Mettre des commentaires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11" name="Google Shape;311;p41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Pour se rappeler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1880850" y="1455275"/>
            <a:ext cx="67281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Cela permet d’expliquer ce que fait le code.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Ces commentaires sont pour les autres, mais surtout pour toi !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14" name="Google Shape;3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4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16" name="Google Shape;316;p41"/>
          <p:cNvSpPr/>
          <p:nvPr/>
        </p:nvSpPr>
        <p:spPr>
          <a:xfrm>
            <a:off x="1880825" y="2379902"/>
            <a:ext cx="6728100" cy="17349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Mise à jour de la liste des paquets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apt update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Mise à jour du système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 apt upgrade -y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17" name="Google Shape;317;p41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8" name="Google Shape;318;p41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9" name="Google Shape;319;p41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4" name="Google Shape;324;p4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25" name="Google Shape;325;p42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Mettre des commentaires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26" name="Google Shape;326;p4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Pour se rappeler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1880850" y="1455275"/>
            <a:ext cx="6728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On peut même en mettre en en-tête de script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4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29" name="Google Shape;3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4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31" name="Google Shape;331;p42"/>
          <p:cNvSpPr/>
          <p:nvPr/>
        </p:nvSpPr>
        <p:spPr>
          <a:xfrm>
            <a:off x="1880825" y="1945050"/>
            <a:ext cx="6728100" cy="21699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######################################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addUser.sh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Utilité: ce script sert à créer des utilisateurs passés en argument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Usage: addUser.sh utilisateur1 utilisateur2 …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Auteur: John DOE &lt;j.doe@wcs.com&gt;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Mise à jour le: 01/02/2025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######################################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4" name="Google Shape;334;p42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43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40" name="Google Shape;340;p43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Ne pas mettre sudo dans les scripts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De la sécurité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1971146" y="1455275"/>
            <a:ext cx="6637800" cy="3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Il vaut mieux exécuter un script avec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sudo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que mettre sudo dans le script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Plus de contrôle sur les permissions : l'utilisateur sait qu'il exécute un script avec sudo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Meilleure sécurité : pas d'élévations de privilèges sur des parties du script non-essentielles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On peut exécuter le script avec un utilisateur précis avec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sudo -u &lt;utilisateur&gt;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3" name="Google Shape;343;p4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44" name="Google Shape;34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4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46" name="Google Shape;346;p43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7" name="Google Shape;347;p43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" name="Google Shape;353;p44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54" name="Google Shape;354;p44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Ne pas mettre sudo dans les scripts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55" name="Google Shape;355;p44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De la sécurité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6" name="Google Shape;356;p4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357" name="Google Shape;357;p44"/>
          <p:cNvSpPr/>
          <p:nvPr/>
        </p:nvSpPr>
        <p:spPr>
          <a:xfrm>
            <a:off x="1880825" y="2026700"/>
            <a:ext cx="6728100" cy="5373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sudo ./script.sh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cone_wild_code_school.png" id="358" name="Google Shape;3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9" name="Google Shape;359;p4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60" name="Google Shape;360;p44"/>
          <p:cNvSpPr txBox="1"/>
          <p:nvPr/>
        </p:nvSpPr>
        <p:spPr>
          <a:xfrm>
            <a:off x="1880825" y="1461200"/>
            <a:ext cx="6728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Bonne pratique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1" name="Google Shape;361;p44"/>
          <p:cNvSpPr/>
          <p:nvPr/>
        </p:nvSpPr>
        <p:spPr>
          <a:xfrm>
            <a:off x="1880825" y="3748809"/>
            <a:ext cx="6728100" cy="9417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Mise à jour de la liste des paquets et du système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sudo apt update &amp;&amp; sudo apt upgrade -y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1880825" y="3183288"/>
            <a:ext cx="6728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Mauvaise pratique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3" name="Google Shape;363;p44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5" name="Google Shape;365;p44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0" name="Google Shape;370;p45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71" name="Google Shape;371;p45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Ne pas mettre sudo dans les scripts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De la sécurité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3" name="Google Shape;373;p45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74" name="Google Shape;37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45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76" name="Google Shape;376;p45"/>
          <p:cNvSpPr txBox="1"/>
          <p:nvPr/>
        </p:nvSpPr>
        <p:spPr>
          <a:xfrm>
            <a:off x="1880825" y="1461200"/>
            <a:ext cx="67281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Bonus : on peut mettre une vérification en début de script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1880825" y="1945100"/>
            <a:ext cx="6728100" cy="23088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Vérification d’exécution en sudo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if [[ $EUID -ne 0 ]]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then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echo "Exécution du script obligatoire en sudo" &gt;&amp;2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exit 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fi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Mise à jour de la liste des paquets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apt update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exit 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79" name="Google Shape;379;p45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0" name="Google Shape;380;p45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5" name="Google Shape;385;p46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386" name="Google Shape;386;p46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variables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7" name="Google Shape;387;p46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Garder les informations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88" name="Google Shape;388;p46"/>
          <p:cNvSpPr txBox="1"/>
          <p:nvPr/>
        </p:nvSpPr>
        <p:spPr>
          <a:xfrm>
            <a:off x="1880850" y="1455275"/>
            <a:ext cx="6728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Cela permet de rendre le code plus flexible et modifiable.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9" name="Google Shape;389;p46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390" name="Google Shape;3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46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392" name="Google Shape;392;p46"/>
          <p:cNvSpPr/>
          <p:nvPr/>
        </p:nvSpPr>
        <p:spPr>
          <a:xfrm>
            <a:off x="1880825" y="1945175"/>
            <a:ext cx="6728100" cy="4116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./script.sh wilder 25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1880850" y="2510325"/>
            <a:ext cx="6728100" cy="20958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no</a:t>
            </a:r>
            <a:r>
              <a:rPr lang="fr">
                <a:solidFill>
                  <a:schemeClr val="lt1"/>
                </a:solidFill>
              </a:rPr>
              <a:t>m="$1"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age="$2"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read -p "Métier : " metier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"$nom a $age ans et son métier est $metier"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4" name="Google Shape;394;p46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5" name="Google Shape;395;p46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6" name="Google Shape;396;p46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p47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02" name="Google Shape;402;p47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variables (suite) 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03" name="Google Shape;403;p47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Garder les informations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1880850" y="1455275"/>
            <a:ext cx="67281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Il peut être judicieux de mettre des double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guillemets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pour encadrer les variables pour éviter les espaces non-désirés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5" name="Google Shape;405;p47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06" name="Google Shape;40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7" name="Google Shape;407;p47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08" name="Google Shape;408;p47"/>
          <p:cNvSpPr/>
          <p:nvPr/>
        </p:nvSpPr>
        <p:spPr>
          <a:xfrm>
            <a:off x="1880850" y="2114250"/>
            <a:ext cx="6728100" cy="24918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nom="$1"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age="$2"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read -p "Métier : " metier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"$nom a $age ans et son métier est $metier"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9" name="Google Shape;409;p47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6" name="Google Shape;416;p48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17" name="Google Shape;417;p48"/>
          <p:cNvSpPr txBox="1"/>
          <p:nvPr/>
        </p:nvSpPr>
        <p:spPr>
          <a:xfrm>
            <a:off x="355112" y="978900"/>
            <a:ext cx="7596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variables (suite)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8" name="Google Shape;418;p48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Sécuriser les informations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9" name="Google Shape;419;p48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20" name="Google Shape;420;p48"/>
          <p:cNvSpPr/>
          <p:nvPr/>
        </p:nvSpPr>
        <p:spPr>
          <a:xfrm>
            <a:off x="1880825" y="2462900"/>
            <a:ext cx="6728100" cy="6234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var="string with spaces"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[ $var = "string with spaces" ] &amp;&amp; echo "OK" || echo "KO"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cone_wild_code_school.png" id="421" name="Google Shape;42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48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23" name="Google Shape;423;p48"/>
          <p:cNvSpPr txBox="1"/>
          <p:nvPr/>
        </p:nvSpPr>
        <p:spPr>
          <a:xfrm>
            <a:off x="1880825" y="1461200"/>
            <a:ext cx="67281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Mauvais code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4" name="Google Shape;424;p48"/>
          <p:cNvSpPr/>
          <p:nvPr/>
        </p:nvSpPr>
        <p:spPr>
          <a:xfrm>
            <a:off x="1880825" y="3748809"/>
            <a:ext cx="6728100" cy="9417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var="string with spaces"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[ "$var" = "string with spaces" ] &amp;&amp; echo "OK" || echo "KO"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[[ $var = "string with spaces" ]] &amp;&amp; echo "OK" || echo "KO"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5" name="Google Shape;425;p48"/>
          <p:cNvSpPr txBox="1"/>
          <p:nvPr/>
        </p:nvSpPr>
        <p:spPr>
          <a:xfrm>
            <a:off x="1880825" y="3324071"/>
            <a:ext cx="6728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Bon code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7" name="Google Shape;427;p48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8" name="Google Shape;428;p48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49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34" name="Google Shape;434;p49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Gérer les erreurs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35" name="Google Shape;435;p49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Eviter les sorties de route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6" name="Google Shape;436;p49"/>
          <p:cNvSpPr txBox="1"/>
          <p:nvPr/>
        </p:nvSpPr>
        <p:spPr>
          <a:xfrm>
            <a:off x="1880850" y="1865475"/>
            <a:ext cx="6728100" cy="10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Erreurs de saisie, mauvais typage de variable, … doivent être gérées pour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éviter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des sorties du code non-prévues.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Avec || :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7" name="Google Shape;437;p49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38" name="Google Shape;43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49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40" name="Google Shape;440;p49"/>
          <p:cNvSpPr/>
          <p:nvPr/>
        </p:nvSpPr>
        <p:spPr>
          <a:xfrm>
            <a:off x="1880850" y="3055400"/>
            <a:ext cx="6728100" cy="6279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cd dossier10 2&gt;/dev/null &amp;&amp; echo "Déplacement dans le dossier" || echo "Dossier inexistant"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1880850" y="3738625"/>
            <a:ext cx="67281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La commande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case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permet aussi de faire des choix suivant des erreurs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prévues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et non-prévue.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4" name="Google Shape;444;p49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" name="Google Shape;449;p50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50" name="Google Shape;450;p50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fonctions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1" name="Google Shape;451;p50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De la sécurité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52" name="Google Shape;452;p50"/>
          <p:cNvSpPr txBox="1"/>
          <p:nvPr/>
        </p:nvSpPr>
        <p:spPr>
          <a:xfrm>
            <a:off x="1880850" y="1455275"/>
            <a:ext cx="67281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En les utilisant, le code peut être plus lisible, et cela permet de gagner des lignes de codes en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évitant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les répétitions.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3" name="Google Shape;453;p50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54" name="Google Shape;45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50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56" name="Google Shape;456;p50"/>
          <p:cNvSpPr/>
          <p:nvPr/>
        </p:nvSpPr>
        <p:spPr>
          <a:xfrm>
            <a:off x="1880825" y="2103575"/>
            <a:ext cx="6728100" cy="27099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 Fonction de calcul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calculer() {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	nombre1="$1"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nombre2=”$2"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resultat=$((a + b))</a:t>
            </a:r>
            <a:endParaRPr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echo "$resultat"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}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calculer 5 10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calculer 1 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calculer 10 200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7" name="Google Shape;457;p50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8" name="Google Shape;458;p50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1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65" name="Google Shape;465;p51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Utiliser des fichiers de log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66" name="Google Shape;466;p51"/>
          <p:cNvSpPr txBox="1"/>
          <p:nvPr/>
        </p:nvSpPr>
        <p:spPr>
          <a:xfrm>
            <a:off x="355959" y="1737150"/>
            <a:ext cx="1314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Eviter les sorties de route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7" name="Google Shape;467;p51"/>
          <p:cNvSpPr txBox="1"/>
          <p:nvPr/>
        </p:nvSpPr>
        <p:spPr>
          <a:xfrm>
            <a:off x="1880850" y="1865475"/>
            <a:ext cx="6728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Cela permet de journaliser l’activité et de faciliter le 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débogage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8" name="Google Shape;468;p51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69" name="Google Shape;46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0" name="Google Shape;470;p51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71" name="Google Shape;471;p51"/>
          <p:cNvSpPr/>
          <p:nvPr/>
        </p:nvSpPr>
        <p:spPr>
          <a:xfrm>
            <a:off x="1880850" y="2478075"/>
            <a:ext cx="6728100" cy="1205100"/>
          </a:xfrm>
          <a:prstGeom prst="roundRect">
            <a:avLst>
              <a:gd fmla="val 3257" name="adj"/>
            </a:avLst>
          </a:prstGeom>
          <a:solidFill>
            <a:srgbClr val="3B424E"/>
          </a:solidFill>
          <a:ln>
            <a:noFill/>
          </a:ln>
          <a:effectLst>
            <a:outerShdw blurRad="200025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234000" spcFirstLastPara="1" rIns="91425" wrap="square" tIns="9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#!/bin/bash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lt1"/>
                </a:solidFill>
              </a:rPr>
              <a:t>cd dossier10 2&gt;/dev/null &amp;&amp; echo "Déplacement dans le dossier" || echo "Dossier inexistant"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p51"/>
          <p:cNvSpPr txBox="1"/>
          <p:nvPr/>
        </p:nvSpPr>
        <p:spPr>
          <a:xfrm>
            <a:off x="1880850" y="3738625"/>
            <a:ext cx="67281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La commande </a:t>
            </a:r>
            <a:r>
              <a:rPr b="1" lang="fr" sz="1800">
                <a:latin typeface="Proxima Nova"/>
                <a:ea typeface="Proxima Nova"/>
                <a:cs typeface="Proxima Nova"/>
                <a:sym typeface="Proxima Nova"/>
              </a:rPr>
              <a:t>case</a:t>
            </a: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 permet aussi de faire des choix suivant des erreurs prévues et non-prévue.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3" name="Google Shape;473;p51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4" name="Google Shape;474;p51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5" name="Google Shape;475;p51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" name="Google Shape;480;p52"/>
          <p:cNvCxnSpPr/>
          <p:nvPr/>
        </p:nvCxnSpPr>
        <p:spPr>
          <a:xfrm>
            <a:off x="371982" y="1410128"/>
            <a:ext cx="135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481" name="Google Shape;481;p52"/>
          <p:cNvSpPr txBox="1"/>
          <p:nvPr/>
        </p:nvSpPr>
        <p:spPr>
          <a:xfrm>
            <a:off x="355112" y="978900"/>
            <a:ext cx="75966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Des applications/modules de vérification</a:t>
            </a:r>
            <a:endParaRPr sz="19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82" name="Google Shape;482;p52"/>
          <p:cNvSpPr txBox="1"/>
          <p:nvPr/>
        </p:nvSpPr>
        <p:spPr>
          <a:xfrm>
            <a:off x="355959" y="1737150"/>
            <a:ext cx="131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Montserrat Medium"/>
                <a:ea typeface="Montserrat Medium"/>
                <a:cs typeface="Montserrat Medium"/>
                <a:sym typeface="Montserrat Medium"/>
              </a:rPr>
              <a:t>Se faire aider</a:t>
            </a:r>
            <a:endParaRPr sz="11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3" name="Google Shape;483;p52"/>
          <p:cNvSpPr txBox="1"/>
          <p:nvPr/>
        </p:nvSpPr>
        <p:spPr>
          <a:xfrm>
            <a:off x="1880850" y="1865475"/>
            <a:ext cx="67281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ShellCheck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fr" sz="1800">
                <a:latin typeface="Proxima Nova"/>
                <a:ea typeface="Proxima Nova"/>
                <a:cs typeface="Proxima Nova"/>
                <a:sym typeface="Proxima Nova"/>
              </a:rPr>
              <a:t>shfmt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4" name="Google Shape;484;p52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descr="icone_wild_code_school.png" id="485" name="Google Shape;4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6" name="Google Shape;486;p52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  <p:sp>
        <p:nvSpPr>
          <p:cNvPr id="487" name="Google Shape;487;p52"/>
          <p:cNvSpPr txBox="1"/>
          <p:nvPr/>
        </p:nvSpPr>
        <p:spPr>
          <a:xfrm>
            <a:off x="1931255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Les fonctions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8" name="Google Shape;488;p52"/>
          <p:cNvSpPr txBox="1"/>
          <p:nvPr/>
        </p:nvSpPr>
        <p:spPr>
          <a:xfrm>
            <a:off x="4668130" y="142600"/>
            <a:ext cx="25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fr" sz="900">
                <a:latin typeface="Montserrat SemiBold"/>
                <a:ea typeface="Montserrat SemiBold"/>
                <a:cs typeface="Montserrat SemiBold"/>
                <a:sym typeface="Montserrat SemiBold"/>
              </a:rPr>
              <a:t>Usages et bonnes pratiques</a:t>
            </a:r>
            <a:endParaRPr sz="9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89" name="Google Shape;489;p52"/>
          <p:cNvSpPr/>
          <p:nvPr/>
        </p:nvSpPr>
        <p:spPr>
          <a:xfrm>
            <a:off x="5683488" y="347575"/>
            <a:ext cx="513864" cy="32886"/>
          </a:xfrm>
          <a:custGeom>
            <a:rect b="b" l="l" r="r" t="t"/>
            <a:pathLst>
              <a:path extrusionOk="0" h="21600" w="21600">
                <a:moveTo>
                  <a:pt x="955" y="21600"/>
                </a:moveTo>
                <a:lnTo>
                  <a:pt x="20645" y="21600"/>
                </a:lnTo>
                <a:cubicBezTo>
                  <a:pt x="20917" y="21600"/>
                  <a:pt x="21080" y="21600"/>
                  <a:pt x="21189" y="20949"/>
                </a:cubicBezTo>
                <a:cubicBezTo>
                  <a:pt x="21362" y="19857"/>
                  <a:pt x="21499" y="17494"/>
                  <a:pt x="21562" y="14494"/>
                </a:cubicBezTo>
                <a:cubicBezTo>
                  <a:pt x="21587" y="13310"/>
                  <a:pt x="21600" y="12060"/>
                  <a:pt x="21600" y="10800"/>
                </a:cubicBezTo>
                <a:cubicBezTo>
                  <a:pt x="21600" y="9540"/>
                  <a:pt x="21587" y="8290"/>
                  <a:pt x="21562" y="7106"/>
                </a:cubicBezTo>
                <a:cubicBezTo>
                  <a:pt x="21499" y="4106"/>
                  <a:pt x="21362" y="1743"/>
                  <a:pt x="21189" y="651"/>
                </a:cubicBezTo>
                <a:cubicBezTo>
                  <a:pt x="21080" y="0"/>
                  <a:pt x="20917" y="0"/>
                  <a:pt x="20645" y="0"/>
                </a:cubicBezTo>
                <a:lnTo>
                  <a:pt x="955" y="0"/>
                </a:lnTo>
                <a:cubicBezTo>
                  <a:pt x="683" y="0"/>
                  <a:pt x="520" y="0"/>
                  <a:pt x="411" y="651"/>
                </a:cubicBezTo>
                <a:cubicBezTo>
                  <a:pt x="238" y="1743"/>
                  <a:pt x="101" y="4106"/>
                  <a:pt x="38" y="7106"/>
                </a:cubicBezTo>
                <a:cubicBezTo>
                  <a:pt x="13" y="8290"/>
                  <a:pt x="0" y="9540"/>
                  <a:pt x="0" y="10800"/>
                </a:cubicBezTo>
                <a:cubicBezTo>
                  <a:pt x="0" y="12060"/>
                  <a:pt x="13" y="13310"/>
                  <a:pt x="38" y="14494"/>
                </a:cubicBezTo>
                <a:cubicBezTo>
                  <a:pt x="101" y="17494"/>
                  <a:pt x="238" y="19857"/>
                  <a:pt x="411" y="20949"/>
                </a:cubicBezTo>
                <a:cubicBezTo>
                  <a:pt x="520" y="21600"/>
                  <a:pt x="683" y="21600"/>
                  <a:pt x="955" y="21600"/>
                </a:cubicBezTo>
                <a:close/>
              </a:path>
            </a:pathLst>
          </a:custGeom>
          <a:solidFill>
            <a:srgbClr val="000000">
              <a:alpha val="694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4" name="Google Shape;494;p53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495" name="Google Shape;495;p53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Références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96" name="Google Shape;496;p53"/>
          <p:cNvSpPr txBox="1"/>
          <p:nvPr/>
        </p:nvSpPr>
        <p:spPr>
          <a:xfrm>
            <a:off x="1401876" y="2339225"/>
            <a:ext cx="3930300" cy="20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La doc officielle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Le wikibooks : Programmation Bash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5"/>
              </a:rPr>
              <a:t>Le Wiki Bash Hackers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Le Bash Guide de Greg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7"/>
              </a:rPr>
              <a:t>ExplainShell</a:t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roxima Nova"/>
              <a:buNone/>
            </a:pPr>
            <a:r>
              <a:t/>
            </a:r>
            <a:endParaRPr sz="1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_wild_code_school (2).png" id="497" name="Google Shape;497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3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499" name="Google Shape;499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0" name="Google Shape;500;p53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5" name="Google Shape;505;p54"/>
          <p:cNvCxnSpPr/>
          <p:nvPr/>
        </p:nvCxnSpPr>
        <p:spPr>
          <a:xfrm>
            <a:off x="1398086" y="1993275"/>
            <a:ext cx="908700" cy="0"/>
          </a:xfrm>
          <a:prstGeom prst="straightConnector1">
            <a:avLst/>
          </a:prstGeom>
          <a:noFill/>
          <a:ln cap="flat" cmpd="sng" w="25400">
            <a:solidFill>
              <a:srgbClr val="000000">
                <a:alpha val="50199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506" name="Google Shape;506;p54"/>
          <p:cNvSpPr txBox="1"/>
          <p:nvPr/>
        </p:nvSpPr>
        <p:spPr>
          <a:xfrm>
            <a:off x="1408574" y="1578042"/>
            <a:ext cx="1722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fr" sz="1900">
                <a:latin typeface="Montserrat ExtraBold"/>
                <a:ea typeface="Montserrat ExtraBold"/>
                <a:cs typeface="Montserrat ExtraBold"/>
                <a:sym typeface="Montserrat ExtraBold"/>
              </a:rPr>
              <a:t>Conclusion</a:t>
            </a:r>
            <a:endParaRPr sz="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07" name="Google Shape;507;p54"/>
          <p:cNvSpPr txBox="1"/>
          <p:nvPr/>
        </p:nvSpPr>
        <p:spPr>
          <a:xfrm>
            <a:off x="1401875" y="2339225"/>
            <a:ext cx="6887100" cy="22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Les fonctions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Ret</a:t>
            </a: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our sur les BP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Beaucoup de notions =&gt; Beaucoup de pratique</a:t>
            </a:r>
            <a:endParaRPr sz="1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Raleway"/>
                <a:ea typeface="Raleway"/>
                <a:cs typeface="Raleway"/>
                <a:sym typeface="Raleway"/>
              </a:rPr>
              <a:t>			</a:t>
            </a:r>
            <a:r>
              <a:rPr b="1" lang="fr" sz="1800">
                <a:latin typeface="Raleway"/>
                <a:ea typeface="Raleway"/>
                <a:cs typeface="Raleway"/>
                <a:sym typeface="Raleway"/>
              </a:rPr>
              <a:t>Ecrivez plein de scripts pour tout !!</a:t>
            </a:r>
            <a:endParaRPr b="1" sz="1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logo_wild_code_school (2).png" id="508" name="Google Shape;50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773" y="2183128"/>
            <a:ext cx="2878072" cy="92180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 txBox="1"/>
          <p:nvPr>
            <p:ph idx="12" type="sldNum"/>
          </p:nvPr>
        </p:nvSpPr>
        <p:spPr>
          <a:xfrm>
            <a:off x="4500563" y="4905375"/>
            <a:ext cx="214800" cy="146100"/>
          </a:xfrm>
          <a:prstGeom prst="rect">
            <a:avLst/>
          </a:prstGeom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1300">
              <a:solidFill>
                <a:schemeClr val="tx1"/>
              </a:solidFill>
            </a:endParaRPr>
          </a:p>
        </p:txBody>
      </p:sp>
      <p:pic>
        <p:nvPicPr>
          <p:cNvPr descr="icone_wild_code_school.png" id="510" name="Google Shape;5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777" y="213879"/>
            <a:ext cx="411606" cy="3002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1" name="Google Shape;511;p54"/>
          <p:cNvCxnSpPr/>
          <p:nvPr/>
        </p:nvCxnSpPr>
        <p:spPr>
          <a:xfrm>
            <a:off x="707937" y="366479"/>
            <a:ext cx="7901100" cy="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70200"/>
              </a:srgbClr>
            </a:solidFill>
            <a:prstDash val="solid"/>
            <a:miter lim="400000"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ild Code Schoo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