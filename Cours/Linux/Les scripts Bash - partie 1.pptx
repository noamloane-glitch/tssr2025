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5143500" cx="9144000"/>
  <p:notesSz cx="6858000" cy="9144000"/>
  <p:embeddedFontLst>
    <p:embeddedFont>
      <p:font typeface="Raleway"/>
      <p:regular r:id="rId55"/>
      <p:bold r:id="rId56"/>
      <p:italic r:id="rId57"/>
      <p:boldItalic r:id="rId58"/>
    </p:embeddedFont>
    <p:embeddedFont>
      <p:font typeface="Montserrat SemiBold"/>
      <p:regular r:id="rId59"/>
      <p:bold r:id="rId60"/>
      <p:italic r:id="rId61"/>
      <p:boldItalic r:id="rId62"/>
    </p:embeddedFont>
    <p:embeddedFont>
      <p:font typeface="Roboto"/>
      <p:regular r:id="rId63"/>
      <p:bold r:id="rId64"/>
      <p:italic r:id="rId65"/>
      <p:boldItalic r:id="rId66"/>
    </p:embeddedFont>
    <p:embeddedFont>
      <p:font typeface="Proxima Nova"/>
      <p:regular r:id="rId67"/>
      <p:bold r:id="rId68"/>
      <p:italic r:id="rId69"/>
      <p:boldItalic r:id="rId70"/>
    </p:embeddedFont>
    <p:embeddedFont>
      <p:font typeface="Montserrat"/>
      <p:regular r:id="rId71"/>
      <p:bold r:id="rId72"/>
      <p:italic r:id="rId73"/>
      <p:boldItalic r:id="rId74"/>
    </p:embeddedFont>
    <p:embeddedFont>
      <p:font typeface="Montserrat Medium"/>
      <p:regular r:id="rId75"/>
      <p:bold r:id="rId76"/>
      <p:italic r:id="rId77"/>
      <p:boldItalic r:id="rId78"/>
    </p:embeddedFont>
    <p:embeddedFont>
      <p:font typeface="Varela Round"/>
      <p:regular r:id="rId79"/>
    </p:embeddedFont>
    <p:embeddedFont>
      <p:font typeface="Raleway Light"/>
      <p:regular r:id="rId80"/>
      <p:bold r:id="rId81"/>
      <p:italic r:id="rId82"/>
      <p:boldItalic r:id="rId83"/>
    </p:embeddedFont>
    <p:embeddedFont>
      <p:font typeface="Helvetica Neue"/>
      <p:regular r:id="rId84"/>
      <p:bold r:id="rId85"/>
      <p:italic r:id="rId86"/>
      <p:boldItalic r:id="rId87"/>
    </p:embeddedFont>
    <p:embeddedFont>
      <p:font typeface="Montserrat ExtraBold"/>
      <p:bold r:id="rId88"/>
      <p:boldItalic r:id="rId8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8CBDC3-149D-4919-8EFD-D75BD855193F}">
  <a:tblStyle styleId="{268CBDC3-149D-4919-8EFD-D75BD85519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HelveticaNeue-regular.fntdata"/><Relationship Id="rId83" Type="http://schemas.openxmlformats.org/officeDocument/2006/relationships/font" Target="fonts/RalewayLight-boldItalic.fntdata"/><Relationship Id="rId42" Type="http://schemas.openxmlformats.org/officeDocument/2006/relationships/slide" Target="slides/slide37.xml"/><Relationship Id="rId86" Type="http://schemas.openxmlformats.org/officeDocument/2006/relationships/font" Target="fonts/HelveticaNeue-italic.fntdata"/><Relationship Id="rId41" Type="http://schemas.openxmlformats.org/officeDocument/2006/relationships/slide" Target="slides/slide36.xml"/><Relationship Id="rId85" Type="http://schemas.openxmlformats.org/officeDocument/2006/relationships/font" Target="fonts/HelveticaNeue-bold.fntdata"/><Relationship Id="rId44" Type="http://schemas.openxmlformats.org/officeDocument/2006/relationships/slide" Target="slides/slide39.xml"/><Relationship Id="rId88" Type="http://schemas.openxmlformats.org/officeDocument/2006/relationships/font" Target="fonts/MontserratExtraBold-bold.fntdata"/><Relationship Id="rId43" Type="http://schemas.openxmlformats.org/officeDocument/2006/relationships/slide" Target="slides/slide38.xml"/><Relationship Id="rId87" Type="http://schemas.openxmlformats.org/officeDocument/2006/relationships/font" Target="fonts/HelveticaNeue-boldItalic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MontserratExtraBold-boldItalic.fntdata"/><Relationship Id="rId80" Type="http://schemas.openxmlformats.org/officeDocument/2006/relationships/font" Target="fonts/RalewayLight-regular.fntdata"/><Relationship Id="rId82" Type="http://schemas.openxmlformats.org/officeDocument/2006/relationships/font" Target="fonts/RalewayLight-italic.fntdata"/><Relationship Id="rId81" Type="http://schemas.openxmlformats.org/officeDocument/2006/relationships/font" Target="fonts/RalewayLigh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Montserrat-italic.fntdata"/><Relationship Id="rId72" Type="http://schemas.openxmlformats.org/officeDocument/2006/relationships/font" Target="fonts/Montserrat-bold.fntdata"/><Relationship Id="rId31" Type="http://schemas.openxmlformats.org/officeDocument/2006/relationships/slide" Target="slides/slide26.xml"/><Relationship Id="rId75" Type="http://schemas.openxmlformats.org/officeDocument/2006/relationships/font" Target="fonts/MontserratMedium-regular.fntdata"/><Relationship Id="rId30" Type="http://schemas.openxmlformats.org/officeDocument/2006/relationships/slide" Target="slides/slide25.xml"/><Relationship Id="rId74" Type="http://schemas.openxmlformats.org/officeDocument/2006/relationships/font" Target="fonts/Montserrat-boldItalic.fntdata"/><Relationship Id="rId33" Type="http://schemas.openxmlformats.org/officeDocument/2006/relationships/slide" Target="slides/slide28.xml"/><Relationship Id="rId77" Type="http://schemas.openxmlformats.org/officeDocument/2006/relationships/font" Target="fonts/MontserratMedium-italic.fntdata"/><Relationship Id="rId32" Type="http://schemas.openxmlformats.org/officeDocument/2006/relationships/slide" Target="slides/slide27.xml"/><Relationship Id="rId76" Type="http://schemas.openxmlformats.org/officeDocument/2006/relationships/font" Target="fonts/MontserratMedium-bold.fntdata"/><Relationship Id="rId35" Type="http://schemas.openxmlformats.org/officeDocument/2006/relationships/slide" Target="slides/slide30.xml"/><Relationship Id="rId79" Type="http://schemas.openxmlformats.org/officeDocument/2006/relationships/font" Target="fonts/VarelaRound-regular.fntdata"/><Relationship Id="rId34" Type="http://schemas.openxmlformats.org/officeDocument/2006/relationships/slide" Target="slides/slide29.xml"/><Relationship Id="rId78" Type="http://schemas.openxmlformats.org/officeDocument/2006/relationships/font" Target="fonts/MontserratMedium-boldItalic.fntdata"/><Relationship Id="rId71" Type="http://schemas.openxmlformats.org/officeDocument/2006/relationships/font" Target="fonts/Montserrat-regular.fntdata"/><Relationship Id="rId70" Type="http://schemas.openxmlformats.org/officeDocument/2006/relationships/font" Target="fonts/ProximaNova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MontserratSemiBold-boldItalic.fntdata"/><Relationship Id="rId61" Type="http://schemas.openxmlformats.org/officeDocument/2006/relationships/font" Target="fonts/MontserratSemiBold-italic.fntdata"/><Relationship Id="rId20" Type="http://schemas.openxmlformats.org/officeDocument/2006/relationships/slide" Target="slides/slide15.xml"/><Relationship Id="rId64" Type="http://schemas.openxmlformats.org/officeDocument/2006/relationships/font" Target="fonts/Roboto-bold.fntdata"/><Relationship Id="rId63" Type="http://schemas.openxmlformats.org/officeDocument/2006/relationships/font" Target="fonts/Roboto-regular.fntdata"/><Relationship Id="rId22" Type="http://schemas.openxmlformats.org/officeDocument/2006/relationships/slide" Target="slides/slide17.xml"/><Relationship Id="rId66" Type="http://schemas.openxmlformats.org/officeDocument/2006/relationships/font" Target="fonts/Roboto-boldItalic.fntdata"/><Relationship Id="rId21" Type="http://schemas.openxmlformats.org/officeDocument/2006/relationships/slide" Target="slides/slide16.xml"/><Relationship Id="rId65" Type="http://schemas.openxmlformats.org/officeDocument/2006/relationships/font" Target="fonts/Roboto-italic.fntdata"/><Relationship Id="rId24" Type="http://schemas.openxmlformats.org/officeDocument/2006/relationships/slide" Target="slides/slide19.xml"/><Relationship Id="rId68" Type="http://schemas.openxmlformats.org/officeDocument/2006/relationships/font" Target="fonts/ProximaNova-bold.fntdata"/><Relationship Id="rId23" Type="http://schemas.openxmlformats.org/officeDocument/2006/relationships/slide" Target="slides/slide18.xml"/><Relationship Id="rId67" Type="http://schemas.openxmlformats.org/officeDocument/2006/relationships/font" Target="fonts/ProximaNova-regular.fntdata"/><Relationship Id="rId60" Type="http://schemas.openxmlformats.org/officeDocument/2006/relationships/font" Target="fonts/MontserratSemiBold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ProximaNova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aleway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Raleway-italic.fntdata"/><Relationship Id="rId12" Type="http://schemas.openxmlformats.org/officeDocument/2006/relationships/slide" Target="slides/slide7.xml"/><Relationship Id="rId56" Type="http://schemas.openxmlformats.org/officeDocument/2006/relationships/font" Target="fonts/Raleway-bold.fntdata"/><Relationship Id="rId15" Type="http://schemas.openxmlformats.org/officeDocument/2006/relationships/slide" Target="slides/slide10.xml"/><Relationship Id="rId59" Type="http://schemas.openxmlformats.org/officeDocument/2006/relationships/font" Target="fonts/MontserratSemiBold-regular.fntdata"/><Relationship Id="rId14" Type="http://schemas.openxmlformats.org/officeDocument/2006/relationships/slide" Target="slides/slide9.xml"/><Relationship Id="rId58" Type="http://schemas.openxmlformats.org/officeDocument/2006/relationships/font" Target="fonts/Raleway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acb787aadd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g2acb787aad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acb787aadd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g2acb787aadd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acb787aadd_0_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g2acb787aadd_0_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acb787aadd_0_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g2acb787aadd_0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08ed24b74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g3a08ed24b74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acb787aadd_0_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g2acb787aadd_0_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cb787aadd_0_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g2acb787aadd_0_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08ed24b74_1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g3a08ed24b74_1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acb787aadd_0_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g2acb787aadd_0_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08ed24b74_1_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g3a08ed24b74_1_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acb787aadd_0_1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g2acb787aadd_0_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acb787aadd_0_1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latin typeface="Montserrat"/>
                <a:ea typeface="Montserrat"/>
                <a:cs typeface="Montserrat"/>
                <a:sym typeface="Montserrat"/>
              </a:rPr>
              <a:t>Pour le shebang pas d’espace après le “!”.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g2acb787aadd_0_1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cb787aadd_0_1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latin typeface="Montserrat"/>
                <a:ea typeface="Montserrat"/>
                <a:cs typeface="Montserrat"/>
                <a:sym typeface="Montserrat"/>
              </a:rPr>
              <a:t>0 : sortie normale, tout va bien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latin typeface="Montserrat"/>
                <a:ea typeface="Montserrat"/>
                <a:cs typeface="Montserrat"/>
                <a:sym typeface="Montserrat"/>
              </a:rPr>
              <a:t>Autre valeur : code d'erreur indiquant qu'il y a eu un problème et précisant via la valeur la nature du problème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g2acb787aadd_0_1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08ed24b74_1_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g3a08ed24b74_1_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acb787aadd_0_1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Note : L'exemple faisant un echo -e (qui permet à echo d'interpreter les metacaractères \n par exemple) ainsi que de l'enchaînement conditionnel de commande est la pour ouvrir une discussion avec les élèves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8" name="Google Shape;368;g2acb787aadd_0_1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a08ed24b74_1_10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g3a08ed24b74_1_1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08ed24b74_1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Note : L'exemple faisant un echo -e (qui permet à echo d'interpreter les metacaractères \n par exemple) ainsi que de l'enchaînement conditionnel de commande est la pour ouvrir une discussion avec les élèves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g3a08ed24b74_1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acb787aadd_0_1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6" name="Google Shape;416;g2acb787aadd_0_1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acb787aadd_0_1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g2acb787aadd_0_1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acb787aadd_0_1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g2acb787aadd_0_1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a08ed24b74_1_1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9" name="Google Shape;459;g3a08ed24b74_1_1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acb787aadd_0_2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latin typeface="Montserrat"/>
                <a:ea typeface="Montserrat"/>
                <a:cs typeface="Montserrat"/>
                <a:sym typeface="Montserrat"/>
              </a:rPr>
              <a:t>la commande “ll” est un alias de “ls -l”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5" name="Google Shape;475;g2acb787aadd_0_2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acb787aadd_0_2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g2acb787aadd_0_2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acb787aadd_0_2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5" name="Google Shape;505;g2acb787aadd_0_2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a08ed24b74_1_1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0" name="Google Shape;520;g3a08ed24b74_1_1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acb787aadd_0_2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6" name="Google Shape;536;g2acb787aadd_0_2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acb787aadd_0_2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g2acb787aadd_0_2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acb787aadd_0_2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4" name="Google Shape;564;g2acb787aadd_0_2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2acb787aadd_0_2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9" name="Google Shape;579;g2acb787aadd_0_2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acb787aadd_0_30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1" name="Google Shape;601;g2acb787aadd_0_3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a08ed24b74_1_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latin typeface="Montserrat"/>
                <a:ea typeface="Montserrat"/>
                <a:cs typeface="Montserrat"/>
                <a:sym typeface="Montserrat"/>
              </a:rPr>
              <a:t>En bash en </a:t>
            </a:r>
            <a:r>
              <a:rPr lang="fr" sz="1400">
                <a:latin typeface="Montserrat"/>
                <a:ea typeface="Montserrat"/>
                <a:cs typeface="Montserrat"/>
                <a:sym typeface="Montserrat"/>
              </a:rPr>
              <a:t>général</a:t>
            </a:r>
            <a:r>
              <a:rPr lang="fr" sz="1400">
                <a:latin typeface="Montserrat"/>
                <a:ea typeface="Montserrat"/>
                <a:cs typeface="Montserrat"/>
                <a:sym typeface="Montserrat"/>
              </a:rPr>
              <a:t> : snake_case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6" name="Google Shape;616;g3a08ed24b74_1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a08ed24b74_1_1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1" name="Google Shape;631;g3a08ed24b74_1_1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acb787aadd_0_3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6" name="Google Shape;646;g2acb787aadd_0_3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acb787aadd_0_3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2" name="Google Shape;662;g2acb787aadd_0_3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a0d89d8326_1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8" name="Google Shape;678;g3a0d89d8326_1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a0d89d8326_1_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latin typeface="Montserrat"/>
                <a:ea typeface="Montserrat"/>
                <a:cs typeface="Montserrat"/>
                <a:sym typeface="Montserrat"/>
              </a:rPr>
              <a:t>Ces notions sont dans beaucoup de langage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3" name="Google Shape;693;g3a0d89d8326_1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a0d89d8326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8" name="Google Shape;708;g3a0d89d8326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2acb787aadd_0_3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4" name="Google Shape;724;g2acb787aadd_0_3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2acb787aadd_0_3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0" name="Google Shape;740;g2acb787aadd_0_3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acb787aadd_0_3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6" name="Google Shape;756;g2acb787aadd_0_3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acb787aadd_0_4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2" name="Google Shape;772;g2acb787aadd_0_4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acb787aadd_0_4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7" name="Google Shape;787;g2acb787aadd_0_4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2acb787aadd_0_4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2" name="Google Shape;802;g2acb787aadd_0_4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acb787aadd_0_4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Aucune modification de la variable dans le script et dans le shell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7" name="Google Shape;817;g2acb787aadd_0_4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2acb787aadd_0_48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chemeClr val="dk1"/>
                </a:solidFill>
              </a:rPr>
              <a:t>Mettre une variable dans l'environnement : export &lt;variable&gt;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chemeClr val="dk1"/>
                </a:solidFill>
              </a:rPr>
              <a:t>Modification de la valeur de la variable au début du script par modification de la valeur dans le shell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3" name="Google Shape;833;g2acb787aadd_0_4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acb787aadd_0_49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rgbClr val="3B424E"/>
                </a:solidFill>
              </a:rPr>
              <a:t>Pour exécuter un script dans le shell courant : source &lt;script.sh&gt;</a:t>
            </a:r>
            <a:endParaRPr sz="1400">
              <a:solidFill>
                <a:srgbClr val="3B424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rgbClr val="3B424E"/>
                </a:solidFill>
              </a:rPr>
              <a:t>la valeur de la variable dans le script a été modifié, ET la valeur du shell a été modifiée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50" name="Google Shape;850;g2acb787aadd_0_4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a08ed24b74_1_1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6" name="Google Shape;866;g3a08ed24b74_1_1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acb787aadd_0_5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g2acb787aadd_0_5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acb787aadd_0_5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g2acb787aadd_0_5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Title" type="title">
  <p:cSld name="TITLE">
    <p:bg>
      <p:bgPr>
        <a:solidFill>
          <a:srgbClr val="F76C6C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50900" y="769825"/>
            <a:ext cx="2442474" cy="36038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>
            <p:ph type="title"/>
          </p:nvPr>
        </p:nvSpPr>
        <p:spPr>
          <a:xfrm>
            <a:off x="1835550" y="1598450"/>
            <a:ext cx="5472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2" type="title"/>
          </p:nvPr>
        </p:nvSpPr>
        <p:spPr>
          <a:xfrm>
            <a:off x="3036450" y="3225675"/>
            <a:ext cx="30711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00" y="180000"/>
            <a:ext cx="1718375" cy="59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lvl="2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lvl="3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lvl="4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lvl="5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lvl="6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lvl="7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lvl="8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bg>
      <p:bgPr>
        <a:solidFill>
          <a:srgbClr val="F99797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3170290" y="771750"/>
            <a:ext cx="2803416" cy="36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title"/>
          </p:nvPr>
        </p:nvSpPr>
        <p:spPr>
          <a:xfrm>
            <a:off x="1835550" y="1787700"/>
            <a:ext cx="5472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6" name="Google Shape;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00" y="180000"/>
            <a:ext cx="1718375" cy="59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lvl="2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lvl="3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lvl="4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lvl="5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lvl="6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lvl="7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lvl="8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 1">
  <p:cSld name="TITLE_1_1">
    <p:bg>
      <p:bgPr>
        <a:solidFill>
          <a:srgbClr val="F76C6C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 rotWithShape="1">
          <a:blip r:embed="rId2">
            <a:alphaModFix/>
          </a:blip>
          <a:srcRect b="258" l="0" r="0" t="258"/>
          <a:stretch/>
        </p:blipFill>
        <p:spPr>
          <a:xfrm rot="10800000">
            <a:off x="3170289" y="771750"/>
            <a:ext cx="2803417" cy="35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>
            <p:ph type="title"/>
          </p:nvPr>
        </p:nvSpPr>
        <p:spPr>
          <a:xfrm>
            <a:off x="1835550" y="1787700"/>
            <a:ext cx="5472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21" name="Google Shape;2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00" y="180000"/>
            <a:ext cx="1718375" cy="59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lvl="2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lvl="3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lvl="4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lvl="5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lvl="6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lvl="7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lvl="8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99150" y="1973574"/>
            <a:ext cx="3545702" cy="119635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ONE_COLUMN_TEXT">
    <p:bg>
      <p:bgPr>
        <a:solidFill>
          <a:srgbClr val="F99797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1254900" y="1718925"/>
            <a:ext cx="2783700" cy="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2" type="title"/>
          </p:nvPr>
        </p:nvSpPr>
        <p:spPr>
          <a:xfrm>
            <a:off x="3962400" y="2002350"/>
            <a:ext cx="3972600" cy="72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038600" y="2679825"/>
            <a:ext cx="2286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pic>
        <p:nvPicPr>
          <p:cNvPr id="30" name="Google Shape;30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0000" y="180000"/>
            <a:ext cx="1718375" cy="59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025" y="777875"/>
            <a:ext cx="3414675" cy="2637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Section">
  <p:cSld name="ONE_COLUMN_TEXT_2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-15875" y="-2650"/>
            <a:ext cx="9180000" cy="720000"/>
          </a:xfrm>
          <a:prstGeom prst="rect">
            <a:avLst/>
          </a:prstGeom>
          <a:solidFill>
            <a:srgbClr val="F76C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 txBox="1"/>
          <p:nvPr>
            <p:ph type="title"/>
          </p:nvPr>
        </p:nvSpPr>
        <p:spPr>
          <a:xfrm>
            <a:off x="1171250" y="-2650"/>
            <a:ext cx="2338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" type="subTitle"/>
          </p:nvPr>
        </p:nvSpPr>
        <p:spPr>
          <a:xfrm>
            <a:off x="3129050" y="190800"/>
            <a:ext cx="2783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pic>
        <p:nvPicPr>
          <p:cNvPr id="37" name="Google Shape;37;p7"/>
          <p:cNvPicPr preferRelativeResize="0"/>
          <p:nvPr/>
        </p:nvPicPr>
        <p:blipFill rotWithShape="1">
          <a:blip r:embed="rId2">
            <a:alphaModFix/>
          </a:blip>
          <a:srcRect b="0" l="0" r="51271" t="0"/>
          <a:stretch/>
        </p:blipFill>
        <p:spPr>
          <a:xfrm>
            <a:off x="126000" y="127800"/>
            <a:ext cx="686432" cy="4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7"/>
          <p:cNvSpPr txBox="1"/>
          <p:nvPr>
            <p:ph idx="2" type="title"/>
          </p:nvPr>
        </p:nvSpPr>
        <p:spPr>
          <a:xfrm>
            <a:off x="1245600" y="882000"/>
            <a:ext cx="67914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76C6C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3" type="subTitle"/>
          </p:nvPr>
        </p:nvSpPr>
        <p:spPr>
          <a:xfrm>
            <a:off x="1249200" y="1414800"/>
            <a:ext cx="6790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76C6C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4" type="body"/>
          </p:nvPr>
        </p:nvSpPr>
        <p:spPr>
          <a:xfrm>
            <a:off x="1249200" y="1998600"/>
            <a:ext cx="6791400" cy="28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●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○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■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●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○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■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●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○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■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Section Split">
  <p:cSld name="ONE_COLUMN_TEXT_2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/>
        </p:nvSpPr>
        <p:spPr>
          <a:xfrm>
            <a:off x="-15875" y="-2650"/>
            <a:ext cx="9180000" cy="720000"/>
          </a:xfrm>
          <a:prstGeom prst="rect">
            <a:avLst/>
          </a:prstGeom>
          <a:solidFill>
            <a:srgbClr val="F76C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1171250" y="-2650"/>
            <a:ext cx="2338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3129050" y="190800"/>
            <a:ext cx="2783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2" type="body"/>
          </p:nvPr>
        </p:nvSpPr>
        <p:spPr>
          <a:xfrm>
            <a:off x="126000" y="1998600"/>
            <a:ext cx="4425900" cy="28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●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○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■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●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○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■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●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○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■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3" type="title"/>
          </p:nvPr>
        </p:nvSpPr>
        <p:spPr>
          <a:xfrm>
            <a:off x="126815" y="1009050"/>
            <a:ext cx="44259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76C6C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4" type="subTitle"/>
          </p:nvPr>
        </p:nvSpPr>
        <p:spPr>
          <a:xfrm>
            <a:off x="126815" y="1719575"/>
            <a:ext cx="4425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76C6C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49" name="Google Shape;49;p8"/>
          <p:cNvPicPr preferRelativeResize="0"/>
          <p:nvPr/>
        </p:nvPicPr>
        <p:blipFill rotWithShape="1">
          <a:blip r:embed="rId2">
            <a:alphaModFix/>
          </a:blip>
          <a:srcRect b="0" l="0" r="51271" t="0"/>
          <a:stretch/>
        </p:blipFill>
        <p:spPr>
          <a:xfrm>
            <a:off x="126000" y="127800"/>
            <a:ext cx="686432" cy="4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Colored with Patern">
  <p:cSld name="ONE_COLUMN_TEXT_2_1_1">
    <p:bg>
      <p:bgPr>
        <a:solidFill>
          <a:srgbClr val="F76C6C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9"/>
          <p:cNvPicPr preferRelativeResize="0"/>
          <p:nvPr/>
        </p:nvPicPr>
        <p:blipFill rotWithShape="1">
          <a:blip r:embed="rId2">
            <a:alphaModFix/>
          </a:blip>
          <a:srcRect b="0" l="0" r="51271" t="0"/>
          <a:stretch/>
        </p:blipFill>
        <p:spPr>
          <a:xfrm>
            <a:off x="126000" y="127800"/>
            <a:ext cx="686432" cy="4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1637" y="1"/>
            <a:ext cx="6372362" cy="51713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Colored">
  <p:cSld name="ONE_COLUMN_TEXT_2_1_1_2">
    <p:bg>
      <p:bgPr>
        <a:solidFill>
          <a:srgbClr val="F76C6C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0"/>
          <p:cNvPicPr preferRelativeResize="0"/>
          <p:nvPr/>
        </p:nvPicPr>
        <p:blipFill rotWithShape="1">
          <a:blip r:embed="rId2">
            <a:alphaModFix/>
          </a:blip>
          <a:srcRect b="0" l="0" r="51271" t="0"/>
          <a:stretch/>
        </p:blipFill>
        <p:spPr>
          <a:xfrm>
            <a:off x="126000" y="127800"/>
            <a:ext cx="686432" cy="4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with Patern">
  <p:cSld name="ONE_COLUMN_TEXT_2_1_1_1"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1"/>
          <p:cNvPicPr preferRelativeResize="0"/>
          <p:nvPr/>
        </p:nvPicPr>
        <p:blipFill rotWithShape="1">
          <a:blip r:embed="rId2">
            <a:alphaModFix/>
          </a:blip>
          <a:srcRect b="24814" l="12345" r="49024" t="24809"/>
          <a:stretch/>
        </p:blipFill>
        <p:spPr>
          <a:xfrm>
            <a:off x="126000" y="126000"/>
            <a:ext cx="686425" cy="48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2000" y="0"/>
            <a:ext cx="6371999" cy="51695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ONE_COLUMN_TEXT_2_1_1_1_1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2"/>
          <p:cNvPicPr preferRelativeResize="0"/>
          <p:nvPr/>
        </p:nvPicPr>
        <p:blipFill rotWithShape="1">
          <a:blip r:embed="rId2">
            <a:alphaModFix/>
          </a:blip>
          <a:srcRect b="24814" l="12345" r="49024" t="24809"/>
          <a:stretch/>
        </p:blipFill>
        <p:spPr>
          <a:xfrm>
            <a:off x="126000" y="126000"/>
            <a:ext cx="686425" cy="48599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principal">
  <p:cSld name="TITLE_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idx="1" type="subTitle"/>
          </p:nvPr>
        </p:nvSpPr>
        <p:spPr>
          <a:xfrm>
            <a:off x="460950" y="2762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8" name="Google Shape;68;p13"/>
          <p:cNvSpPr txBox="1"/>
          <p:nvPr>
            <p:ph type="title"/>
          </p:nvPr>
        </p:nvSpPr>
        <p:spPr>
          <a:xfrm>
            <a:off x="1001250" y="985375"/>
            <a:ext cx="71415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2" type="subTitle"/>
          </p:nvPr>
        </p:nvSpPr>
        <p:spPr>
          <a:xfrm>
            <a:off x="1036975" y="4423800"/>
            <a:ext cx="4478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3" type="subTitle"/>
          </p:nvPr>
        </p:nvSpPr>
        <p:spPr>
          <a:xfrm>
            <a:off x="1036975" y="4666700"/>
            <a:ext cx="4290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1458450" y="5263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Char char="●"/>
              <a:defRPr b="1" sz="4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&amp; contenu">
  <p:cSld name="ONE_COLUMN_TEXT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211625" y="440925"/>
            <a:ext cx="28080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621650" y="2501050"/>
            <a:ext cx="20817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2" type="body"/>
          </p:nvPr>
        </p:nvSpPr>
        <p:spPr>
          <a:xfrm>
            <a:off x="3650375" y="1033675"/>
            <a:ext cx="5110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principal 1">
  <p:cSld name="TITLE_3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460950" y="2762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1001250" y="985375"/>
            <a:ext cx="71415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2" type="subTitle"/>
          </p:nvPr>
        </p:nvSpPr>
        <p:spPr>
          <a:xfrm>
            <a:off x="1036975" y="4423800"/>
            <a:ext cx="4478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3" type="subTitle"/>
          </p:nvPr>
        </p:nvSpPr>
        <p:spPr>
          <a:xfrm>
            <a:off x="1036975" y="4666700"/>
            <a:ext cx="4290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&amp; text">
  <p:cSld name="ONE_COLUMN_TEXT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ild Code School" id="89" name="Google Shape;89;p18"/>
          <p:cNvPicPr preferRelativeResize="0"/>
          <p:nvPr/>
        </p:nvPicPr>
        <p:blipFill rotWithShape="1">
          <a:blip r:embed="rId2">
            <a:alphaModFix/>
          </a:blip>
          <a:srcRect b="0" l="0" r="38336" t="0"/>
          <a:stretch/>
        </p:blipFill>
        <p:spPr>
          <a:xfrm>
            <a:off x="4385478" y="0"/>
            <a:ext cx="475852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>
            <p:ph type="title"/>
          </p:nvPr>
        </p:nvSpPr>
        <p:spPr>
          <a:xfrm>
            <a:off x="375875" y="440925"/>
            <a:ext cx="36792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2" name="Google Shape;92;p18"/>
          <p:cNvSpPr txBox="1"/>
          <p:nvPr>
            <p:ph idx="1" type="subTitle"/>
          </p:nvPr>
        </p:nvSpPr>
        <p:spPr>
          <a:xfrm>
            <a:off x="913127" y="2501050"/>
            <a:ext cx="27276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&amp; contenu 1">
  <p:cSld name="ONE_COLUMN_TEXT_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type="title"/>
          </p:nvPr>
        </p:nvSpPr>
        <p:spPr>
          <a:xfrm>
            <a:off x="211625" y="440925"/>
            <a:ext cx="28080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621650" y="2501050"/>
            <a:ext cx="20817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2" type="body"/>
          </p:nvPr>
        </p:nvSpPr>
        <p:spPr>
          <a:xfrm>
            <a:off x="3650375" y="1033675"/>
            <a:ext cx="5110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principal 2">
  <p:cSld name="TITLE_4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idx="1" type="subTitle"/>
          </p:nvPr>
        </p:nvSpPr>
        <p:spPr>
          <a:xfrm>
            <a:off x="460950" y="2762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2" name="Google Shape;102;p20"/>
          <p:cNvSpPr txBox="1"/>
          <p:nvPr>
            <p:ph type="title"/>
          </p:nvPr>
        </p:nvSpPr>
        <p:spPr>
          <a:xfrm>
            <a:off x="1001250" y="985375"/>
            <a:ext cx="71415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3" name="Google Shape;103;p20"/>
          <p:cNvSpPr txBox="1"/>
          <p:nvPr>
            <p:ph idx="2" type="subTitle"/>
          </p:nvPr>
        </p:nvSpPr>
        <p:spPr>
          <a:xfrm>
            <a:off x="1036975" y="4423800"/>
            <a:ext cx="4478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3" type="subTitle"/>
          </p:nvPr>
        </p:nvSpPr>
        <p:spPr>
          <a:xfrm>
            <a:off x="1036975" y="4666700"/>
            <a:ext cx="4290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&amp; contenu 2">
  <p:cSld name="ONE_COLUMN_TEXT_3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type="title"/>
          </p:nvPr>
        </p:nvSpPr>
        <p:spPr>
          <a:xfrm>
            <a:off x="211625" y="440925"/>
            <a:ext cx="28080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9" name="Google Shape;109;p21"/>
          <p:cNvSpPr txBox="1"/>
          <p:nvPr>
            <p:ph idx="1" type="subTitle"/>
          </p:nvPr>
        </p:nvSpPr>
        <p:spPr>
          <a:xfrm>
            <a:off x="621650" y="2501050"/>
            <a:ext cx="20817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2" type="body"/>
          </p:nvPr>
        </p:nvSpPr>
        <p:spPr>
          <a:xfrm>
            <a:off x="3650375" y="1033675"/>
            <a:ext cx="5110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&amp; contenu 3">
  <p:cSld name="ONE_COLUMN_TEXT_4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 txBox="1"/>
          <p:nvPr>
            <p:ph type="title"/>
          </p:nvPr>
        </p:nvSpPr>
        <p:spPr>
          <a:xfrm>
            <a:off x="211625" y="440925"/>
            <a:ext cx="28080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14" name="Google Shape;114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15" name="Google Shape;115;p22"/>
          <p:cNvSpPr txBox="1"/>
          <p:nvPr>
            <p:ph idx="1" type="subTitle"/>
          </p:nvPr>
        </p:nvSpPr>
        <p:spPr>
          <a:xfrm>
            <a:off x="621650" y="2501050"/>
            <a:ext cx="20817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2" type="body"/>
          </p:nvPr>
        </p:nvSpPr>
        <p:spPr>
          <a:xfrm>
            <a:off x="3650375" y="1033675"/>
            <a:ext cx="5110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principal 3">
  <p:cSld name="TITLE_5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" type="subTitle"/>
          </p:nvPr>
        </p:nvSpPr>
        <p:spPr>
          <a:xfrm>
            <a:off x="460950" y="2762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1001250" y="985375"/>
            <a:ext cx="71415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1" name="Google Shape;121;p23"/>
          <p:cNvSpPr txBox="1"/>
          <p:nvPr>
            <p:ph idx="2" type="subTitle"/>
          </p:nvPr>
        </p:nvSpPr>
        <p:spPr>
          <a:xfrm>
            <a:off x="1036975" y="4423800"/>
            <a:ext cx="4478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3" type="subTitle"/>
          </p:nvPr>
        </p:nvSpPr>
        <p:spPr>
          <a:xfrm>
            <a:off x="1036975" y="4666700"/>
            <a:ext cx="4290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&amp; contenu 4">
  <p:cSld name="ONE_COLUMN_TEXT_5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4"/>
          <p:cNvSpPr txBox="1"/>
          <p:nvPr>
            <p:ph type="title"/>
          </p:nvPr>
        </p:nvSpPr>
        <p:spPr>
          <a:xfrm>
            <a:off x="211625" y="440925"/>
            <a:ext cx="28080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621650" y="2501050"/>
            <a:ext cx="20817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8" name="Google Shape;128;p24"/>
          <p:cNvSpPr txBox="1"/>
          <p:nvPr>
            <p:ph idx="2" type="body"/>
          </p:nvPr>
        </p:nvSpPr>
        <p:spPr>
          <a:xfrm>
            <a:off x="3650375" y="1033675"/>
            <a:ext cx="5110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&amp; text 1">
  <p:cSld name="ONE_COLUMN_TEXT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ild Code School" id="130" name="Google Shape;130;p25"/>
          <p:cNvPicPr preferRelativeResize="0"/>
          <p:nvPr/>
        </p:nvPicPr>
        <p:blipFill rotWithShape="1">
          <a:blip r:embed="rId2">
            <a:alphaModFix/>
          </a:blip>
          <a:srcRect b="0" l="0" r="38336" t="0"/>
          <a:stretch/>
        </p:blipFill>
        <p:spPr>
          <a:xfrm>
            <a:off x="4385478" y="0"/>
            <a:ext cx="475852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 txBox="1"/>
          <p:nvPr>
            <p:ph type="title"/>
          </p:nvPr>
        </p:nvSpPr>
        <p:spPr>
          <a:xfrm>
            <a:off x="375875" y="440925"/>
            <a:ext cx="36792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32" name="Google Shape;132;p2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3" name="Google Shape;133;p25"/>
          <p:cNvSpPr txBox="1"/>
          <p:nvPr>
            <p:ph idx="1" type="subTitle"/>
          </p:nvPr>
        </p:nvSpPr>
        <p:spPr>
          <a:xfrm>
            <a:off x="913127" y="2501050"/>
            <a:ext cx="27276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">
  <p:cSld name="TITLE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279400" lvl="1" marL="914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indent="-279400" lvl="2" marL="1371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indent="-279400" lvl="3" marL="1828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indent="-279400" lvl="4" marL="22860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Char char="●"/>
              <a:defRPr sz="44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137" name="Google Shape;137;p26"/>
          <p:cNvSpPr txBox="1"/>
          <p:nvPr>
            <p:ph idx="2" type="body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 1">
  <p:cSld name="TITLE_2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279400" lvl="1" marL="914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indent="-279400" lvl="2" marL="1371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indent="-279400" lvl="3" marL="1828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indent="-279400" lvl="4" marL="22860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41" name="Google Shape;141;p27"/>
          <p:cNvSpPr txBox="1"/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Char char="●"/>
              <a:defRPr sz="44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2" type="body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 2">
  <p:cSld name="TITLE_6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279400" lvl="1" marL="914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indent="-279400" lvl="2" marL="1371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indent="-279400" lvl="3" marL="1828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indent="-279400" lvl="4" marL="22860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Char char="●"/>
              <a:defRPr sz="44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147" name="Google Shape;147;p28"/>
          <p:cNvSpPr txBox="1"/>
          <p:nvPr>
            <p:ph idx="2" type="body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48" name="Google Shape;148;p28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fr.wikipedia.org/wiki/Interpr%C3%A8te_(informatique)" TargetMode="External"/><Relationship Id="rId4" Type="http://schemas.openxmlformats.org/officeDocument/2006/relationships/hyperlink" Target="https://fr.wikipedia.org/wiki/Interpr%C3%A9teur_de_commandes" TargetMode="External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mywiki.wooledge.org/BashGuide/Practices" TargetMode="External"/><Relationship Id="rId4" Type="http://schemas.openxmlformats.org/officeDocument/2006/relationships/hyperlink" Target="https://wiki.bash-hackers.org/scripting/style" TargetMode="External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fr.wikipedia.org/wiki/Shebang" TargetMode="External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fr.wikipedia.org/wiki/Snake_case" TargetMode="External"/><Relationship Id="rId4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fr.wikipedia.org/wiki/Camel_case" TargetMode="External"/><Relationship Id="rId4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www.gnu.org/software/bash/manual/" TargetMode="External"/><Relationship Id="rId4" Type="http://schemas.openxmlformats.org/officeDocument/2006/relationships/hyperlink" Target="https://fr.wikibooks.org/wiki/Programmation_Bash" TargetMode="External"/><Relationship Id="rId9" Type="http://schemas.openxmlformats.org/officeDocument/2006/relationships/image" Target="../media/image4.png"/><Relationship Id="rId5" Type="http://schemas.openxmlformats.org/officeDocument/2006/relationships/hyperlink" Target="https://wiki.bash-hackers.org" TargetMode="External"/><Relationship Id="rId6" Type="http://schemas.openxmlformats.org/officeDocument/2006/relationships/hyperlink" Target="http://mywiki.wooledge.org/BashGuide" TargetMode="External"/><Relationship Id="rId7" Type="http://schemas.openxmlformats.org/officeDocument/2006/relationships/hyperlink" Target="https://explainshell.com/" TargetMode="External"/><Relationship Id="rId8" Type="http://schemas.openxmlformats.org/officeDocument/2006/relationships/image" Target="../media/image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e_wild_code_school.png" id="153" name="Google Shape;15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5033" y="-988226"/>
            <a:ext cx="5613778" cy="409565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9"/>
          <p:cNvSpPr txBox="1"/>
          <p:nvPr>
            <p:ph idx="12" type="sldNum"/>
          </p:nvPr>
        </p:nvSpPr>
        <p:spPr>
          <a:xfrm>
            <a:off x="4500562" y="4905375"/>
            <a:ext cx="138300" cy="1617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fld id="{00000000-1234-1234-1234-123412341234}" type="slidenum">
              <a:rPr lang="fr" sz="800"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9"/>
          <p:cNvSpPr txBox="1"/>
          <p:nvPr/>
        </p:nvSpPr>
        <p:spPr>
          <a:xfrm>
            <a:off x="1099884" y="1116375"/>
            <a:ext cx="46965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800">
                <a:latin typeface="Montserrat ExtraBold"/>
                <a:ea typeface="Montserrat ExtraBold"/>
                <a:cs typeface="Montserrat ExtraBold"/>
                <a:sym typeface="Montserrat ExtraBold"/>
              </a:rPr>
              <a:t>Les scripts Bash</a:t>
            </a:r>
            <a:endParaRPr sz="38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sz="38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1118264" y="3108465"/>
            <a:ext cx="33867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"/>
              <a:buNone/>
            </a:pPr>
            <a:r>
              <a:rPr lang="fr">
                <a:latin typeface="Montserrat Medium"/>
                <a:ea typeface="Montserrat Medium"/>
                <a:cs typeface="Montserrat Medium"/>
                <a:sym typeface="Montserrat Medium"/>
              </a:rPr>
              <a:t>Partie 1 - Les fondations</a:t>
            </a:r>
            <a:endParaRPr sz="14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e_wild_code_school.png" id="161" name="Google Shape;16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30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163" name="Google Shape;163;p30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Sommaire</a:t>
            </a:r>
            <a:endParaRPr sz="5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4" name="Google Shape;164;p30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Au menu :</a:t>
            </a:r>
            <a:endParaRPr sz="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65" name="Google Shape;165;p30"/>
          <p:cNvGrpSpPr/>
          <p:nvPr/>
        </p:nvGrpSpPr>
        <p:grpSpPr>
          <a:xfrm>
            <a:off x="2054304" y="2295701"/>
            <a:ext cx="4924070" cy="438638"/>
            <a:chOff x="4269994" y="8021650"/>
            <a:chExt cx="13130853" cy="1169700"/>
          </a:xfrm>
        </p:grpSpPr>
        <p:sp>
          <p:nvSpPr>
            <p:cNvPr id="166" name="Google Shape;166;p30"/>
            <p:cNvSpPr txBox="1"/>
            <p:nvPr/>
          </p:nvSpPr>
          <p:spPr>
            <a:xfrm>
              <a:off x="4269994" y="8021650"/>
              <a:ext cx="15738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7146B"/>
                </a:buClr>
                <a:buSzPts val="2600"/>
                <a:buFont typeface="Arial"/>
                <a:buNone/>
              </a:pPr>
              <a:r>
                <a:rPr i="0" lang="fr" sz="2600" u="none" cap="none" strike="noStrike">
                  <a:solidFill>
                    <a:srgbClr val="F7146B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02</a:t>
              </a:r>
              <a:endParaRPr sz="500"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67" name="Google Shape;167;p30"/>
            <p:cNvSpPr txBox="1"/>
            <p:nvPr/>
          </p:nvSpPr>
          <p:spPr>
            <a:xfrm>
              <a:off x="6983047" y="8160250"/>
              <a:ext cx="104178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1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La base</a:t>
              </a:r>
              <a:endParaRPr sz="1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68" name="Google Shape;168;p30"/>
          <p:cNvGrpSpPr/>
          <p:nvPr/>
        </p:nvGrpSpPr>
        <p:grpSpPr>
          <a:xfrm>
            <a:off x="2054304" y="1669435"/>
            <a:ext cx="4924070" cy="438638"/>
            <a:chOff x="4269994" y="6149551"/>
            <a:chExt cx="13130853" cy="1169700"/>
          </a:xfrm>
        </p:grpSpPr>
        <p:sp>
          <p:nvSpPr>
            <p:cNvPr id="169" name="Google Shape;169;p30"/>
            <p:cNvSpPr txBox="1"/>
            <p:nvPr/>
          </p:nvSpPr>
          <p:spPr>
            <a:xfrm>
              <a:off x="4269994" y="6149551"/>
              <a:ext cx="11958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7146B"/>
                </a:buClr>
                <a:buSzPts val="2600"/>
                <a:buFont typeface="Arial"/>
                <a:buNone/>
              </a:pPr>
              <a:r>
                <a:rPr i="0" lang="fr" sz="2600" u="none" cap="none" strike="noStrike">
                  <a:solidFill>
                    <a:srgbClr val="F7146B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01</a:t>
              </a:r>
              <a:endParaRPr sz="500"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70" name="Google Shape;170;p30"/>
            <p:cNvSpPr txBox="1"/>
            <p:nvPr/>
          </p:nvSpPr>
          <p:spPr>
            <a:xfrm>
              <a:off x="6983047" y="6288151"/>
              <a:ext cx="104178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1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Définition</a:t>
              </a:r>
              <a:endParaRPr sz="1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71" name="Google Shape;171;p30"/>
          <p:cNvGrpSpPr/>
          <p:nvPr/>
        </p:nvGrpSpPr>
        <p:grpSpPr>
          <a:xfrm>
            <a:off x="2054304" y="2921967"/>
            <a:ext cx="4924070" cy="438638"/>
            <a:chOff x="4269994" y="9778025"/>
            <a:chExt cx="13130853" cy="1169700"/>
          </a:xfrm>
        </p:grpSpPr>
        <p:sp>
          <p:nvSpPr>
            <p:cNvPr id="172" name="Google Shape;172;p30"/>
            <p:cNvSpPr txBox="1"/>
            <p:nvPr/>
          </p:nvSpPr>
          <p:spPr>
            <a:xfrm>
              <a:off x="4269994" y="9778025"/>
              <a:ext cx="15738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7146B"/>
                </a:buClr>
                <a:buSzPts val="2600"/>
                <a:buFont typeface="Arial"/>
                <a:buNone/>
              </a:pPr>
              <a:r>
                <a:rPr i="0" lang="fr" sz="2600" u="none" cap="none" strike="noStrike">
                  <a:solidFill>
                    <a:srgbClr val="F7146B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</a:t>
              </a:r>
              <a:r>
                <a:rPr lang="fr" sz="2600">
                  <a:solidFill>
                    <a:srgbClr val="F7146B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3</a:t>
              </a:r>
              <a:endParaRPr sz="500"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73" name="Google Shape;173;p30"/>
            <p:cNvSpPr txBox="1"/>
            <p:nvPr/>
          </p:nvSpPr>
          <p:spPr>
            <a:xfrm>
              <a:off x="6983047" y="9916625"/>
              <a:ext cx="104178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1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variables</a:t>
              </a:r>
              <a:endParaRPr sz="1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174" name="Google Shape;174;p30"/>
          <p:cNvSpPr txBox="1"/>
          <p:nvPr>
            <p:ph idx="12" type="sldNum"/>
          </p:nvPr>
        </p:nvSpPr>
        <p:spPr>
          <a:xfrm>
            <a:off x="4500562" y="4905375"/>
            <a:ext cx="138300" cy="1617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fld id="{00000000-1234-1234-1234-123412341234}" type="slidenum">
              <a:rPr lang="fr" sz="800"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5" name="Google Shape;175;p30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e_wild_code_school.png" id="180" name="Google Shape;180;p31"/>
          <p:cNvPicPr preferRelativeResize="0"/>
          <p:nvPr/>
        </p:nvPicPr>
        <p:blipFill rotWithShape="1">
          <a:blip r:embed="rId3">
            <a:alphaModFix amt="5319"/>
          </a:blip>
          <a:srcRect b="0" l="0" r="0" t="0"/>
          <a:stretch/>
        </p:blipFill>
        <p:spPr>
          <a:xfrm>
            <a:off x="-341617" y="-1174284"/>
            <a:ext cx="10269126" cy="749206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1"/>
          <p:cNvSpPr txBox="1"/>
          <p:nvPr/>
        </p:nvSpPr>
        <p:spPr>
          <a:xfrm>
            <a:off x="1311075" y="2327513"/>
            <a:ext cx="6522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8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3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31"/>
          <p:cNvSpPr txBox="1"/>
          <p:nvPr>
            <p:ph idx="12" type="sldNum"/>
          </p:nvPr>
        </p:nvSpPr>
        <p:spPr>
          <a:xfrm>
            <a:off x="4500563" y="4905375"/>
            <a:ext cx="214800" cy="1617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fld id="{00000000-1234-1234-1234-123412341234}" type="slidenum">
              <a:rPr lang="fr" sz="800"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cone_wild_code_school.png" id="183" name="Google Shape;18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4" name="Google Shape;184;p31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185" name="Google Shape;185;p31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6" name="Google Shape;186;p31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7" name="Google Shape;187;p31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8" name="Google Shape;188;p31"/>
          <p:cNvSpPr/>
          <p:nvPr/>
        </p:nvSpPr>
        <p:spPr>
          <a:xfrm>
            <a:off x="1491063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" name="Google Shape;193;p32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194" name="Google Shape;194;p32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C'est quoi un script ?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95" name="Google Shape;195;p32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En général</a:t>
            </a:r>
            <a:endParaRPr sz="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6" name="Google Shape;196;p32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Fichier texte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Contient du code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Écrit dans un langage donné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Peut-être exécuté via un </a:t>
            </a: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interprète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Pour les scripts shell : </a:t>
            </a: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interpréteur de commande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(CLI)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L'interpréteur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lit ligne par ligne dans un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environnement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non-compilé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7" name="Google Shape;197;p32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198" name="Google Shape;19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" name="Google Shape;199;p32"/>
          <p:cNvGrpSpPr/>
          <p:nvPr/>
        </p:nvGrpSpPr>
        <p:grpSpPr>
          <a:xfrm>
            <a:off x="707937" y="134925"/>
            <a:ext cx="7901100" cy="231554"/>
            <a:chOff x="707937" y="134925"/>
            <a:chExt cx="7901100" cy="231554"/>
          </a:xfrm>
        </p:grpSpPr>
        <p:cxnSp>
          <p:nvCxnSpPr>
            <p:cNvPr id="200" name="Google Shape;200;p32"/>
            <p:cNvCxnSpPr/>
            <p:nvPr/>
          </p:nvCxnSpPr>
          <p:spPr>
            <a:xfrm>
              <a:off x="707937" y="366479"/>
              <a:ext cx="7901100" cy="0"/>
            </a:xfrm>
            <a:prstGeom prst="straightConnector1">
              <a:avLst/>
            </a:prstGeom>
            <a:noFill/>
            <a:ln cap="flat" cmpd="sng" w="12700">
              <a:solidFill>
                <a:srgbClr val="000000">
                  <a:alpha val="70200"/>
                </a:srgbClr>
              </a:solidFill>
              <a:prstDash val="solid"/>
              <a:miter lim="400000"/>
              <a:headEnd len="sm" w="sm" type="none"/>
              <a:tailEnd len="med" w="med" type="oval"/>
            </a:ln>
          </p:spPr>
        </p:cxnSp>
        <p:sp>
          <p:nvSpPr>
            <p:cNvPr id="201" name="Google Shape;201;p32"/>
            <p:cNvSpPr txBox="1"/>
            <p:nvPr/>
          </p:nvSpPr>
          <p:spPr>
            <a:xfrm>
              <a:off x="1040494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Définition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02" name="Google Shape;202;p32"/>
            <p:cNvSpPr txBox="1"/>
            <p:nvPr/>
          </p:nvSpPr>
          <p:spPr>
            <a:xfrm>
              <a:off x="6661002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variables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03" name="Google Shape;203;p32"/>
            <p:cNvSpPr txBox="1"/>
            <p:nvPr/>
          </p:nvSpPr>
          <p:spPr>
            <a:xfrm>
              <a:off x="3850760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La base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204" name="Google Shape;204;p32"/>
          <p:cNvSpPr/>
          <p:nvPr/>
        </p:nvSpPr>
        <p:spPr>
          <a:xfrm>
            <a:off x="1491063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33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10" name="Google Shape;210;p33"/>
          <p:cNvSpPr txBox="1"/>
          <p:nvPr/>
        </p:nvSpPr>
        <p:spPr>
          <a:xfrm>
            <a:off x="355107" y="978900"/>
            <a:ext cx="6132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Différence entre script et programme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1" name="Google Shape;211;p33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En général</a:t>
            </a:r>
            <a:endParaRPr sz="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2" name="Google Shape;212;p33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On distingue en général (via des commandes interprétées par le shell)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Programme : indique au processeur ce qu'il doit faire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Script : indique à un OS, ou une application ce qu'ils doivent faire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3" name="Google Shape;213;p33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214" name="Google Shape;21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33"/>
          <p:cNvGrpSpPr/>
          <p:nvPr/>
        </p:nvGrpSpPr>
        <p:grpSpPr>
          <a:xfrm>
            <a:off x="707937" y="134925"/>
            <a:ext cx="7901100" cy="231554"/>
            <a:chOff x="707937" y="134925"/>
            <a:chExt cx="7901100" cy="231554"/>
          </a:xfrm>
        </p:grpSpPr>
        <p:cxnSp>
          <p:nvCxnSpPr>
            <p:cNvPr id="216" name="Google Shape;216;p33"/>
            <p:cNvCxnSpPr/>
            <p:nvPr/>
          </p:nvCxnSpPr>
          <p:spPr>
            <a:xfrm>
              <a:off x="707937" y="366479"/>
              <a:ext cx="7901100" cy="0"/>
            </a:xfrm>
            <a:prstGeom prst="straightConnector1">
              <a:avLst/>
            </a:prstGeom>
            <a:noFill/>
            <a:ln cap="flat" cmpd="sng" w="12700">
              <a:solidFill>
                <a:srgbClr val="000000">
                  <a:alpha val="70200"/>
                </a:srgbClr>
              </a:solidFill>
              <a:prstDash val="solid"/>
              <a:miter lim="400000"/>
              <a:headEnd len="sm" w="sm" type="none"/>
              <a:tailEnd len="med" w="med" type="oval"/>
            </a:ln>
          </p:spPr>
        </p:cxnSp>
        <p:sp>
          <p:nvSpPr>
            <p:cNvPr id="217" name="Google Shape;217;p33"/>
            <p:cNvSpPr txBox="1"/>
            <p:nvPr/>
          </p:nvSpPr>
          <p:spPr>
            <a:xfrm>
              <a:off x="1040494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Définition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18" name="Google Shape;218;p33"/>
            <p:cNvSpPr txBox="1"/>
            <p:nvPr/>
          </p:nvSpPr>
          <p:spPr>
            <a:xfrm>
              <a:off x="6661002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variables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19" name="Google Shape;219;p33"/>
            <p:cNvSpPr txBox="1"/>
            <p:nvPr/>
          </p:nvSpPr>
          <p:spPr>
            <a:xfrm>
              <a:off x="3850760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La base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220" name="Google Shape;220;p33"/>
          <p:cNvSpPr/>
          <p:nvPr/>
        </p:nvSpPr>
        <p:spPr>
          <a:xfrm>
            <a:off x="1491063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" name="Google Shape;225;p34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26" name="Google Shape;226;p34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Objectif des scripts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27" name="Google Shape;227;p34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Mais pourquoi ?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8" name="Google Shape;228;p34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Reproduction rapide et simple de suites d'actions répétitives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Anticipation d’actions futures pour une meilleure réactivité (et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être plus serein !)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Fiabilité : tous les contrôles nécessaires sont fait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Documentation : un autre admin peut consulter les scripts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Automatisation : déclenchements automatiques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En bref : simplifier la vie de l'administrateur !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9" name="Google Shape;229;p34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230" name="Google Shape;23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34"/>
          <p:cNvGrpSpPr/>
          <p:nvPr/>
        </p:nvGrpSpPr>
        <p:grpSpPr>
          <a:xfrm>
            <a:off x="707937" y="134925"/>
            <a:ext cx="7901100" cy="231554"/>
            <a:chOff x="707937" y="134925"/>
            <a:chExt cx="7901100" cy="231554"/>
          </a:xfrm>
        </p:grpSpPr>
        <p:cxnSp>
          <p:nvCxnSpPr>
            <p:cNvPr id="232" name="Google Shape;232;p34"/>
            <p:cNvCxnSpPr/>
            <p:nvPr/>
          </p:nvCxnSpPr>
          <p:spPr>
            <a:xfrm>
              <a:off x="707937" y="366479"/>
              <a:ext cx="7901100" cy="0"/>
            </a:xfrm>
            <a:prstGeom prst="straightConnector1">
              <a:avLst/>
            </a:prstGeom>
            <a:noFill/>
            <a:ln cap="flat" cmpd="sng" w="12700">
              <a:solidFill>
                <a:srgbClr val="000000">
                  <a:alpha val="70200"/>
                </a:srgbClr>
              </a:solidFill>
              <a:prstDash val="solid"/>
              <a:miter lim="400000"/>
              <a:headEnd len="sm" w="sm" type="none"/>
              <a:tailEnd len="med" w="med" type="oval"/>
            </a:ln>
          </p:spPr>
        </p:cxnSp>
        <p:sp>
          <p:nvSpPr>
            <p:cNvPr id="233" name="Google Shape;233;p34"/>
            <p:cNvSpPr txBox="1"/>
            <p:nvPr/>
          </p:nvSpPr>
          <p:spPr>
            <a:xfrm>
              <a:off x="1040494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Définition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34" name="Google Shape;234;p34"/>
            <p:cNvSpPr txBox="1"/>
            <p:nvPr/>
          </p:nvSpPr>
          <p:spPr>
            <a:xfrm>
              <a:off x="6661002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variables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35" name="Google Shape;235;p34"/>
            <p:cNvSpPr txBox="1"/>
            <p:nvPr/>
          </p:nvSpPr>
          <p:spPr>
            <a:xfrm>
              <a:off x="3850760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La base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236" name="Google Shape;236;p34"/>
          <p:cNvSpPr/>
          <p:nvPr/>
        </p:nvSpPr>
        <p:spPr>
          <a:xfrm>
            <a:off x="1491063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" name="Google Shape;241;p35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42" name="Google Shape;242;p35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Les shell UNIX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43" name="Google Shape;243;p35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The UNIX way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4" name="Google Shape;244;p35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Le shell standard d'UNIX est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sh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Bash (et les autres shell) sont compatibles avec sh.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On peut donc écrire des scripts sh et les faire exécuter par bash (ou un autre).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On a donc 2 approches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Écrire des scripts standard qui s'exécute sur n'importe quel shell.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Écrire des scripts spécifiques en utilisant les ajouts d'un shell particulier.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5" name="Google Shape;245;p35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246" name="Google Shape;24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p35"/>
          <p:cNvGrpSpPr/>
          <p:nvPr/>
        </p:nvGrpSpPr>
        <p:grpSpPr>
          <a:xfrm>
            <a:off x="707937" y="134925"/>
            <a:ext cx="7901100" cy="231554"/>
            <a:chOff x="707937" y="134925"/>
            <a:chExt cx="7901100" cy="231554"/>
          </a:xfrm>
        </p:grpSpPr>
        <p:cxnSp>
          <p:nvCxnSpPr>
            <p:cNvPr id="248" name="Google Shape;248;p35"/>
            <p:cNvCxnSpPr/>
            <p:nvPr/>
          </p:nvCxnSpPr>
          <p:spPr>
            <a:xfrm>
              <a:off x="707937" y="366479"/>
              <a:ext cx="7901100" cy="0"/>
            </a:xfrm>
            <a:prstGeom prst="straightConnector1">
              <a:avLst/>
            </a:prstGeom>
            <a:noFill/>
            <a:ln cap="flat" cmpd="sng" w="12700">
              <a:solidFill>
                <a:srgbClr val="000000">
                  <a:alpha val="70200"/>
                </a:srgbClr>
              </a:solidFill>
              <a:prstDash val="solid"/>
              <a:miter lim="400000"/>
              <a:headEnd len="sm" w="sm" type="none"/>
              <a:tailEnd len="med" w="med" type="oval"/>
            </a:ln>
          </p:spPr>
        </p:cxnSp>
        <p:sp>
          <p:nvSpPr>
            <p:cNvPr id="249" name="Google Shape;249;p35"/>
            <p:cNvSpPr txBox="1"/>
            <p:nvPr/>
          </p:nvSpPr>
          <p:spPr>
            <a:xfrm>
              <a:off x="1040494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Définition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50" name="Google Shape;250;p35"/>
            <p:cNvSpPr txBox="1"/>
            <p:nvPr/>
          </p:nvSpPr>
          <p:spPr>
            <a:xfrm>
              <a:off x="6661002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variables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51" name="Google Shape;251;p35"/>
            <p:cNvSpPr txBox="1"/>
            <p:nvPr/>
          </p:nvSpPr>
          <p:spPr>
            <a:xfrm>
              <a:off x="3850760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La base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252" name="Google Shape;252;p35"/>
          <p:cNvSpPr/>
          <p:nvPr/>
        </p:nvSpPr>
        <p:spPr>
          <a:xfrm>
            <a:off x="1491063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7" name="Google Shape;257;p36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58" name="Google Shape;258;p36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Mon premier script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9" name="Google Shape;259;p36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Bonjour le monde !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0" name="Google Shape;260;p36"/>
          <p:cNvSpPr txBox="1"/>
          <p:nvPr/>
        </p:nvSpPr>
        <p:spPr>
          <a:xfrm>
            <a:off x="1971146" y="1455275"/>
            <a:ext cx="66378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AutoNum type="arabicPeriod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Créer un fichier coucou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AutoNum type="arabicPeriod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Insérer un echo pour afficher : Hello World !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AutoNum type="arabicPeriod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Lance le script coucou avec bash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1" name="Google Shape;261;p36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262" name="Google Shape;26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36"/>
          <p:cNvGrpSpPr/>
          <p:nvPr/>
        </p:nvGrpSpPr>
        <p:grpSpPr>
          <a:xfrm>
            <a:off x="707937" y="134925"/>
            <a:ext cx="7901100" cy="244980"/>
            <a:chOff x="707937" y="134925"/>
            <a:chExt cx="7901100" cy="244980"/>
          </a:xfrm>
        </p:grpSpPr>
        <p:cxnSp>
          <p:nvCxnSpPr>
            <p:cNvPr id="264" name="Google Shape;264;p36"/>
            <p:cNvCxnSpPr/>
            <p:nvPr/>
          </p:nvCxnSpPr>
          <p:spPr>
            <a:xfrm>
              <a:off x="707937" y="366479"/>
              <a:ext cx="7901100" cy="0"/>
            </a:xfrm>
            <a:prstGeom prst="straightConnector1">
              <a:avLst/>
            </a:prstGeom>
            <a:noFill/>
            <a:ln cap="flat" cmpd="sng" w="12700">
              <a:solidFill>
                <a:srgbClr val="000000">
                  <a:alpha val="70200"/>
                </a:srgbClr>
              </a:solidFill>
              <a:prstDash val="solid"/>
              <a:miter lim="400000"/>
              <a:headEnd len="sm" w="sm" type="none"/>
              <a:tailEnd len="med" w="med" type="oval"/>
            </a:ln>
          </p:spPr>
        </p:cxnSp>
        <p:sp>
          <p:nvSpPr>
            <p:cNvPr id="265" name="Google Shape;265;p36"/>
            <p:cNvSpPr txBox="1"/>
            <p:nvPr/>
          </p:nvSpPr>
          <p:spPr>
            <a:xfrm>
              <a:off x="1040494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Définition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66" name="Google Shape;266;p36"/>
            <p:cNvSpPr txBox="1"/>
            <p:nvPr/>
          </p:nvSpPr>
          <p:spPr>
            <a:xfrm>
              <a:off x="6661002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variables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67" name="Google Shape;267;p36"/>
            <p:cNvSpPr txBox="1"/>
            <p:nvPr/>
          </p:nvSpPr>
          <p:spPr>
            <a:xfrm>
              <a:off x="3850760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La base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68" name="Google Shape;268;p36"/>
            <p:cNvSpPr/>
            <p:nvPr/>
          </p:nvSpPr>
          <p:spPr>
            <a:xfrm>
              <a:off x="1210650" y="348153"/>
              <a:ext cx="1097604" cy="31752"/>
            </a:xfrm>
            <a:custGeom>
              <a:rect b="b" l="l" r="r" t="t"/>
              <a:pathLst>
                <a:path extrusionOk="0" h="21600" w="21600">
                  <a:moveTo>
                    <a:pt x="955" y="21600"/>
                  </a:moveTo>
                  <a:lnTo>
                    <a:pt x="20645" y="21600"/>
                  </a:lnTo>
                  <a:cubicBezTo>
                    <a:pt x="20917" y="21600"/>
                    <a:pt x="21080" y="21600"/>
                    <a:pt x="21189" y="20949"/>
                  </a:cubicBezTo>
                  <a:cubicBezTo>
                    <a:pt x="21362" y="19857"/>
                    <a:pt x="21499" y="17494"/>
                    <a:pt x="21562" y="14494"/>
                  </a:cubicBezTo>
                  <a:cubicBezTo>
                    <a:pt x="21587" y="13310"/>
                    <a:pt x="21600" y="12060"/>
                    <a:pt x="21600" y="10800"/>
                  </a:cubicBezTo>
                  <a:cubicBezTo>
                    <a:pt x="21600" y="9540"/>
                    <a:pt x="21587" y="8290"/>
                    <a:pt x="21562" y="7106"/>
                  </a:cubicBezTo>
                  <a:cubicBezTo>
                    <a:pt x="21499" y="4106"/>
                    <a:pt x="21362" y="1743"/>
                    <a:pt x="21189" y="651"/>
                  </a:cubicBezTo>
                  <a:cubicBezTo>
                    <a:pt x="21080" y="0"/>
                    <a:pt x="20917" y="0"/>
                    <a:pt x="20645" y="0"/>
                  </a:cubicBezTo>
                  <a:lnTo>
                    <a:pt x="955" y="0"/>
                  </a:lnTo>
                  <a:cubicBezTo>
                    <a:pt x="683" y="0"/>
                    <a:pt x="520" y="0"/>
                    <a:pt x="411" y="651"/>
                  </a:cubicBezTo>
                  <a:cubicBezTo>
                    <a:pt x="238" y="1743"/>
                    <a:pt x="101" y="4106"/>
                    <a:pt x="38" y="7106"/>
                  </a:cubicBezTo>
                  <a:cubicBezTo>
                    <a:pt x="13" y="8290"/>
                    <a:pt x="0" y="9540"/>
                    <a:pt x="0" y="10800"/>
                  </a:cubicBezTo>
                  <a:cubicBezTo>
                    <a:pt x="0" y="12060"/>
                    <a:pt x="13" y="13310"/>
                    <a:pt x="38" y="14494"/>
                  </a:cubicBezTo>
                  <a:cubicBezTo>
                    <a:pt x="101" y="17494"/>
                    <a:pt x="238" y="19857"/>
                    <a:pt x="411" y="20949"/>
                  </a:cubicBezTo>
                  <a:cubicBezTo>
                    <a:pt x="520" y="21600"/>
                    <a:pt x="683" y="21600"/>
                    <a:pt x="955" y="21600"/>
                  </a:cubicBezTo>
                  <a:close/>
                </a:path>
              </a:pathLst>
            </a:custGeom>
            <a:solidFill>
              <a:srgbClr val="000000">
                <a:alpha val="6941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69" name="Google Shape;269;p36"/>
          <p:cNvSpPr/>
          <p:nvPr/>
        </p:nvSpPr>
        <p:spPr>
          <a:xfrm>
            <a:off x="1491063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4" name="Google Shape;274;p37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75" name="Google Shape;275;p37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Mon premier script (suite)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6" name="Google Shape;276;p37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Édition de fichier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278" name="Google Shape;27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37"/>
          <p:cNvGrpSpPr/>
          <p:nvPr/>
        </p:nvGrpSpPr>
        <p:grpSpPr>
          <a:xfrm>
            <a:off x="707937" y="134925"/>
            <a:ext cx="7901100" cy="231554"/>
            <a:chOff x="707937" y="134925"/>
            <a:chExt cx="7901100" cy="231554"/>
          </a:xfrm>
        </p:grpSpPr>
        <p:cxnSp>
          <p:nvCxnSpPr>
            <p:cNvPr id="280" name="Google Shape;280;p37"/>
            <p:cNvCxnSpPr/>
            <p:nvPr/>
          </p:nvCxnSpPr>
          <p:spPr>
            <a:xfrm>
              <a:off x="707937" y="366479"/>
              <a:ext cx="7901100" cy="0"/>
            </a:xfrm>
            <a:prstGeom prst="straightConnector1">
              <a:avLst/>
            </a:prstGeom>
            <a:noFill/>
            <a:ln cap="flat" cmpd="sng" w="12700">
              <a:solidFill>
                <a:srgbClr val="000000">
                  <a:alpha val="70200"/>
                </a:srgbClr>
              </a:solidFill>
              <a:prstDash val="solid"/>
              <a:miter lim="400000"/>
              <a:headEnd len="sm" w="sm" type="none"/>
              <a:tailEnd len="med" w="med" type="oval"/>
            </a:ln>
          </p:spPr>
        </p:cxnSp>
        <p:sp>
          <p:nvSpPr>
            <p:cNvPr id="281" name="Google Shape;281;p37"/>
            <p:cNvSpPr txBox="1"/>
            <p:nvPr/>
          </p:nvSpPr>
          <p:spPr>
            <a:xfrm>
              <a:off x="1040494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Définition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82" name="Google Shape;282;p37"/>
            <p:cNvSpPr txBox="1"/>
            <p:nvPr/>
          </p:nvSpPr>
          <p:spPr>
            <a:xfrm>
              <a:off x="6661002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variables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83" name="Google Shape;283;p37"/>
            <p:cNvSpPr txBox="1"/>
            <p:nvPr/>
          </p:nvSpPr>
          <p:spPr>
            <a:xfrm>
              <a:off x="3850760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La base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284" name="Google Shape;284;p37"/>
          <p:cNvSpPr/>
          <p:nvPr/>
        </p:nvSpPr>
        <p:spPr>
          <a:xfrm>
            <a:off x="1949925" y="1409675"/>
            <a:ext cx="69018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rgbClr val="FFFFFF"/>
                </a:solidFill>
              </a:rPr>
              <a:t> touch coucou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rgbClr val="FFFFFF"/>
                </a:solidFill>
              </a:rPr>
              <a:t> nano coucou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# Ajout de :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echo “Hello World !”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# Enregistrer le fichier et quitter l’éditeur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 bash coucou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hello world !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rgbClr val="FFFFFF"/>
                </a:solidFill>
              </a:rPr>
              <a:t> cat coucou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echo hello world !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285" name="Google Shape;285;p37"/>
          <p:cNvSpPr/>
          <p:nvPr/>
        </p:nvSpPr>
        <p:spPr>
          <a:xfrm>
            <a:off x="1491063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0" name="Google Shape;290;p38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91" name="Google Shape;291;p38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Mon premier script (suite)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92" name="Google Shape;292;p38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Tout en CLI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3" name="Google Shape;293;p38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294" name="Google Shape;29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5" name="Google Shape;295;p38"/>
          <p:cNvGrpSpPr/>
          <p:nvPr/>
        </p:nvGrpSpPr>
        <p:grpSpPr>
          <a:xfrm>
            <a:off x="707937" y="134925"/>
            <a:ext cx="7901100" cy="231554"/>
            <a:chOff x="707937" y="134925"/>
            <a:chExt cx="7901100" cy="231554"/>
          </a:xfrm>
        </p:grpSpPr>
        <p:cxnSp>
          <p:nvCxnSpPr>
            <p:cNvPr id="296" name="Google Shape;296;p38"/>
            <p:cNvCxnSpPr/>
            <p:nvPr/>
          </p:nvCxnSpPr>
          <p:spPr>
            <a:xfrm>
              <a:off x="707937" y="366479"/>
              <a:ext cx="7901100" cy="0"/>
            </a:xfrm>
            <a:prstGeom prst="straightConnector1">
              <a:avLst/>
            </a:prstGeom>
            <a:noFill/>
            <a:ln cap="flat" cmpd="sng" w="12700">
              <a:solidFill>
                <a:srgbClr val="000000">
                  <a:alpha val="70200"/>
                </a:srgbClr>
              </a:solidFill>
              <a:prstDash val="solid"/>
              <a:miter lim="400000"/>
              <a:headEnd len="sm" w="sm" type="none"/>
              <a:tailEnd len="med" w="med" type="oval"/>
            </a:ln>
          </p:spPr>
        </p:cxnSp>
        <p:sp>
          <p:nvSpPr>
            <p:cNvPr id="297" name="Google Shape;297;p38"/>
            <p:cNvSpPr txBox="1"/>
            <p:nvPr/>
          </p:nvSpPr>
          <p:spPr>
            <a:xfrm>
              <a:off x="1040494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Définition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98" name="Google Shape;298;p38"/>
            <p:cNvSpPr txBox="1"/>
            <p:nvPr/>
          </p:nvSpPr>
          <p:spPr>
            <a:xfrm>
              <a:off x="6661002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variables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99" name="Google Shape;299;p38"/>
            <p:cNvSpPr txBox="1"/>
            <p:nvPr/>
          </p:nvSpPr>
          <p:spPr>
            <a:xfrm>
              <a:off x="3850760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La base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300" name="Google Shape;300;p38"/>
          <p:cNvSpPr/>
          <p:nvPr/>
        </p:nvSpPr>
        <p:spPr>
          <a:xfrm>
            <a:off x="1949925" y="1409675"/>
            <a:ext cx="69018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rgbClr val="FFFFFF"/>
                </a:solidFill>
              </a:rPr>
              <a:t> echo echo hello world ! &gt; coucou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rgbClr val="FFFFFF"/>
                </a:solidFill>
              </a:rPr>
              <a:t> bash coucou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hello world !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rgbClr val="FFFFFF"/>
                </a:solidFill>
              </a:rPr>
              <a:t> cat coucou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echo hello world !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301" name="Google Shape;301;p38"/>
          <p:cNvSpPr/>
          <p:nvPr/>
        </p:nvSpPr>
        <p:spPr>
          <a:xfrm>
            <a:off x="1491063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6" name="Google Shape;306;p39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07" name="Google Shape;307;p39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Bonnes pratiques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08" name="Google Shape;308;p39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Un beau script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9" name="Google Shape;309;p39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Suffixer les noms de scripts par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.sh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(fréquent mais pas essentiel)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Accorder les droits d'exécution aux scripts (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chmod u+x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Utiliser les commentaires pour expliquer ses scripts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bash ignore les lignes qui débutent par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#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Quelques autres recommandations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Sur le </a:t>
            </a: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Greg's wiki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Sur le wiki </a:t>
            </a: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Bash hackers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10" name="Google Shape;310;p39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311" name="Google Shape;31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9"/>
          <p:cNvGrpSpPr/>
          <p:nvPr/>
        </p:nvGrpSpPr>
        <p:grpSpPr>
          <a:xfrm>
            <a:off x="707937" y="134925"/>
            <a:ext cx="7901100" cy="231554"/>
            <a:chOff x="707937" y="134925"/>
            <a:chExt cx="7901100" cy="231554"/>
          </a:xfrm>
        </p:grpSpPr>
        <p:cxnSp>
          <p:nvCxnSpPr>
            <p:cNvPr id="313" name="Google Shape;313;p39"/>
            <p:cNvCxnSpPr/>
            <p:nvPr/>
          </p:nvCxnSpPr>
          <p:spPr>
            <a:xfrm>
              <a:off x="707937" y="366479"/>
              <a:ext cx="7901100" cy="0"/>
            </a:xfrm>
            <a:prstGeom prst="straightConnector1">
              <a:avLst/>
            </a:prstGeom>
            <a:noFill/>
            <a:ln cap="flat" cmpd="sng" w="12700">
              <a:solidFill>
                <a:srgbClr val="000000">
                  <a:alpha val="70200"/>
                </a:srgbClr>
              </a:solidFill>
              <a:prstDash val="solid"/>
              <a:miter lim="400000"/>
              <a:headEnd len="sm" w="sm" type="none"/>
              <a:tailEnd len="med" w="med" type="oval"/>
            </a:ln>
          </p:spPr>
        </p:cxnSp>
        <p:sp>
          <p:nvSpPr>
            <p:cNvPr id="314" name="Google Shape;314;p39"/>
            <p:cNvSpPr txBox="1"/>
            <p:nvPr/>
          </p:nvSpPr>
          <p:spPr>
            <a:xfrm>
              <a:off x="1040494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Définition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15" name="Google Shape;315;p39"/>
            <p:cNvSpPr txBox="1"/>
            <p:nvPr/>
          </p:nvSpPr>
          <p:spPr>
            <a:xfrm>
              <a:off x="6661002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variables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16" name="Google Shape;316;p39"/>
            <p:cNvSpPr txBox="1"/>
            <p:nvPr/>
          </p:nvSpPr>
          <p:spPr>
            <a:xfrm>
              <a:off x="3850760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La base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317" name="Google Shape;317;p39"/>
          <p:cNvSpPr/>
          <p:nvPr/>
        </p:nvSpPr>
        <p:spPr>
          <a:xfrm>
            <a:off x="1491063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2" name="Google Shape;322;p40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23" name="Google Shape;323;p40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Le shebang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24" name="Google Shape;324;p40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Besoin d'un interprète ?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5" name="Google Shape;325;p40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Sur les systèmes d'exploitation de type Unix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Convention pour les scripts (fichier texte "exécutable")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La première ligne :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#! &lt;chemin de l'interpreteur&gt;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Par exemple pour un script bash sur Debian/Ubuntu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#!/bin/bash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Pour être plus généraliste :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#!/usr/bin/env bash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Pour l'histoire du nom, voir </a:t>
            </a: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WikipediA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6" name="Google Shape;326;p40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327" name="Google Shape;32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40"/>
          <p:cNvGrpSpPr/>
          <p:nvPr/>
        </p:nvGrpSpPr>
        <p:grpSpPr>
          <a:xfrm>
            <a:off x="707937" y="134925"/>
            <a:ext cx="7901100" cy="231554"/>
            <a:chOff x="707937" y="134925"/>
            <a:chExt cx="7901100" cy="231554"/>
          </a:xfrm>
        </p:grpSpPr>
        <p:cxnSp>
          <p:nvCxnSpPr>
            <p:cNvPr id="329" name="Google Shape;329;p40"/>
            <p:cNvCxnSpPr/>
            <p:nvPr/>
          </p:nvCxnSpPr>
          <p:spPr>
            <a:xfrm>
              <a:off x="707937" y="366479"/>
              <a:ext cx="7901100" cy="0"/>
            </a:xfrm>
            <a:prstGeom prst="straightConnector1">
              <a:avLst/>
            </a:prstGeom>
            <a:noFill/>
            <a:ln cap="flat" cmpd="sng" w="12700">
              <a:solidFill>
                <a:srgbClr val="000000">
                  <a:alpha val="70200"/>
                </a:srgbClr>
              </a:solidFill>
              <a:prstDash val="solid"/>
              <a:miter lim="400000"/>
              <a:headEnd len="sm" w="sm" type="none"/>
              <a:tailEnd len="med" w="med" type="oval"/>
            </a:ln>
          </p:spPr>
        </p:cxnSp>
        <p:sp>
          <p:nvSpPr>
            <p:cNvPr id="330" name="Google Shape;330;p40"/>
            <p:cNvSpPr txBox="1"/>
            <p:nvPr/>
          </p:nvSpPr>
          <p:spPr>
            <a:xfrm>
              <a:off x="1040494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Définition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31" name="Google Shape;331;p40"/>
            <p:cNvSpPr txBox="1"/>
            <p:nvPr/>
          </p:nvSpPr>
          <p:spPr>
            <a:xfrm>
              <a:off x="6661002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variables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32" name="Google Shape;332;p40"/>
            <p:cNvSpPr txBox="1"/>
            <p:nvPr/>
          </p:nvSpPr>
          <p:spPr>
            <a:xfrm>
              <a:off x="3850760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La base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333" name="Google Shape;333;p40"/>
          <p:cNvSpPr/>
          <p:nvPr/>
        </p:nvSpPr>
        <p:spPr>
          <a:xfrm>
            <a:off x="1491063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8" name="Google Shape;338;p41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39" name="Google Shape;339;p41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Le code de sortie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0" name="Google Shape;340;p41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Terminer en beauté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1" name="Google Shape;341;p41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Toute commande Unix est censée se terminer en fournissant un code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Ce code est une valeur numérique entre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et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255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ndique au processus exécuteur la raison de sa fin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Un script shell est une "commande composite" il doit donc fournir un code de sortie au shell qui l'a invoqué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exit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permet de préciser cette valeur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2" name="Google Shape;342;p41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343" name="Google Shape;34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4" name="Google Shape;344;p41"/>
          <p:cNvGrpSpPr/>
          <p:nvPr/>
        </p:nvGrpSpPr>
        <p:grpSpPr>
          <a:xfrm>
            <a:off x="707937" y="134925"/>
            <a:ext cx="7901100" cy="231554"/>
            <a:chOff x="707937" y="134925"/>
            <a:chExt cx="7901100" cy="231554"/>
          </a:xfrm>
        </p:grpSpPr>
        <p:cxnSp>
          <p:nvCxnSpPr>
            <p:cNvPr id="345" name="Google Shape;345;p41"/>
            <p:cNvCxnSpPr/>
            <p:nvPr/>
          </p:nvCxnSpPr>
          <p:spPr>
            <a:xfrm>
              <a:off x="707937" y="366479"/>
              <a:ext cx="7901100" cy="0"/>
            </a:xfrm>
            <a:prstGeom prst="straightConnector1">
              <a:avLst/>
            </a:prstGeom>
            <a:noFill/>
            <a:ln cap="flat" cmpd="sng" w="12700">
              <a:solidFill>
                <a:srgbClr val="000000">
                  <a:alpha val="70200"/>
                </a:srgbClr>
              </a:solidFill>
              <a:prstDash val="solid"/>
              <a:miter lim="400000"/>
              <a:headEnd len="sm" w="sm" type="none"/>
              <a:tailEnd len="med" w="med" type="oval"/>
            </a:ln>
          </p:spPr>
        </p:cxnSp>
        <p:sp>
          <p:nvSpPr>
            <p:cNvPr id="346" name="Google Shape;346;p41"/>
            <p:cNvSpPr txBox="1"/>
            <p:nvPr/>
          </p:nvSpPr>
          <p:spPr>
            <a:xfrm>
              <a:off x="1040494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Définition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47" name="Google Shape;347;p41"/>
            <p:cNvSpPr txBox="1"/>
            <p:nvPr/>
          </p:nvSpPr>
          <p:spPr>
            <a:xfrm>
              <a:off x="6661002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variables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48" name="Google Shape;348;p41"/>
            <p:cNvSpPr txBox="1"/>
            <p:nvPr/>
          </p:nvSpPr>
          <p:spPr>
            <a:xfrm>
              <a:off x="3850760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La base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349" name="Google Shape;349;p41"/>
          <p:cNvSpPr/>
          <p:nvPr/>
        </p:nvSpPr>
        <p:spPr>
          <a:xfrm>
            <a:off x="1491063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42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55" name="Google Shape;355;p42"/>
          <p:cNvSpPr txBox="1"/>
          <p:nvPr/>
        </p:nvSpPr>
        <p:spPr>
          <a:xfrm>
            <a:off x="355107" y="978900"/>
            <a:ext cx="5886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Quelques exemples de c</a:t>
            </a: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ode de sortie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56" name="Google Shape;356;p42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Exemples ?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57" name="Google Shape;357;p42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358" name="Google Shape;35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9" name="Google Shape;359;p42"/>
          <p:cNvGrpSpPr/>
          <p:nvPr/>
        </p:nvGrpSpPr>
        <p:grpSpPr>
          <a:xfrm>
            <a:off x="707937" y="134925"/>
            <a:ext cx="7901100" cy="231554"/>
            <a:chOff x="707937" y="134925"/>
            <a:chExt cx="7901100" cy="231554"/>
          </a:xfrm>
        </p:grpSpPr>
        <p:cxnSp>
          <p:nvCxnSpPr>
            <p:cNvPr id="360" name="Google Shape;360;p42"/>
            <p:cNvCxnSpPr/>
            <p:nvPr/>
          </p:nvCxnSpPr>
          <p:spPr>
            <a:xfrm>
              <a:off x="707937" y="366479"/>
              <a:ext cx="7901100" cy="0"/>
            </a:xfrm>
            <a:prstGeom prst="straightConnector1">
              <a:avLst/>
            </a:prstGeom>
            <a:noFill/>
            <a:ln cap="flat" cmpd="sng" w="12700">
              <a:solidFill>
                <a:srgbClr val="000000">
                  <a:alpha val="70200"/>
                </a:srgbClr>
              </a:solidFill>
              <a:prstDash val="solid"/>
              <a:miter lim="400000"/>
              <a:headEnd len="sm" w="sm" type="none"/>
              <a:tailEnd len="med" w="med" type="oval"/>
            </a:ln>
          </p:spPr>
        </p:cxnSp>
        <p:sp>
          <p:nvSpPr>
            <p:cNvPr id="361" name="Google Shape;361;p42"/>
            <p:cNvSpPr txBox="1"/>
            <p:nvPr/>
          </p:nvSpPr>
          <p:spPr>
            <a:xfrm>
              <a:off x="1040494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Définition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62" name="Google Shape;362;p42"/>
            <p:cNvSpPr txBox="1"/>
            <p:nvPr/>
          </p:nvSpPr>
          <p:spPr>
            <a:xfrm>
              <a:off x="6661002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variables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63" name="Google Shape;363;p42"/>
            <p:cNvSpPr txBox="1"/>
            <p:nvPr/>
          </p:nvSpPr>
          <p:spPr>
            <a:xfrm>
              <a:off x="3850760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La base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aphicFrame>
        <p:nvGraphicFramePr>
          <p:cNvPr id="364" name="Google Shape;364;p42"/>
          <p:cNvGraphicFramePr/>
          <p:nvPr/>
        </p:nvGraphicFramePr>
        <p:xfrm>
          <a:off x="172675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{268CBDC3-149D-4919-8EFD-D75BD855193F}</a:tableStyleId>
              </a:tblPr>
              <a:tblGrid>
                <a:gridCol w="3232375"/>
                <a:gridCol w="3232375"/>
              </a:tblGrid>
              <a:tr h="58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N° de code de sortie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Signification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/>
                        <a:t>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</a:t>
                      </a:r>
                      <a:r>
                        <a:rPr lang="fr"/>
                        <a:t>ortie normale, tout va bien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/>
                        <a:t>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Erreur générale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Mauvaise syntaxe de commande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Pas de droit </a:t>
                      </a:r>
                      <a:r>
                        <a:rPr lang="fr"/>
                        <a:t>d'exécution</a:t>
                      </a:r>
                      <a:r>
                        <a:rPr lang="fr"/>
                        <a:t> sur un fichier existant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5" name="Google Shape;365;p42"/>
          <p:cNvSpPr/>
          <p:nvPr/>
        </p:nvSpPr>
        <p:spPr>
          <a:xfrm>
            <a:off x="1491063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0" name="Google Shape;370;p43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71" name="Google Shape;371;p43"/>
          <p:cNvSpPr txBox="1"/>
          <p:nvPr/>
        </p:nvSpPr>
        <p:spPr>
          <a:xfrm>
            <a:off x="355104" y="978900"/>
            <a:ext cx="5130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Mon premier script dans les règles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72" name="Google Shape;372;p43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Bonjour le monde !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3" name="Google Shape;373;p43"/>
          <p:cNvSpPr txBox="1"/>
          <p:nvPr/>
        </p:nvSpPr>
        <p:spPr>
          <a:xfrm>
            <a:off x="1971146" y="1455275"/>
            <a:ext cx="66378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AutoNum type="arabicPeriod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Créer un fichier coucou.sh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AutoNum type="arabicPeriod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Ajouter le shebang en première ligne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AutoNum type="arabicPeriod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Faire afficher "Hello World !"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AutoNum type="arabicPeriod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Terminer en renvoyant 0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AutoNum type="arabicPeriod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Rendre le script exécutable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AutoNum type="arabicPeriod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L'exécuter directement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4" name="Google Shape;374;p43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375" name="Google Shape;37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6" name="Google Shape;376;p43"/>
          <p:cNvGrpSpPr/>
          <p:nvPr/>
        </p:nvGrpSpPr>
        <p:grpSpPr>
          <a:xfrm>
            <a:off x="707937" y="134925"/>
            <a:ext cx="7901100" cy="231554"/>
            <a:chOff x="707937" y="134925"/>
            <a:chExt cx="7901100" cy="231554"/>
          </a:xfrm>
        </p:grpSpPr>
        <p:cxnSp>
          <p:nvCxnSpPr>
            <p:cNvPr id="377" name="Google Shape;377;p43"/>
            <p:cNvCxnSpPr/>
            <p:nvPr/>
          </p:nvCxnSpPr>
          <p:spPr>
            <a:xfrm>
              <a:off x="707937" y="366479"/>
              <a:ext cx="7901100" cy="0"/>
            </a:xfrm>
            <a:prstGeom prst="straightConnector1">
              <a:avLst/>
            </a:prstGeom>
            <a:noFill/>
            <a:ln cap="flat" cmpd="sng" w="12700">
              <a:solidFill>
                <a:srgbClr val="000000">
                  <a:alpha val="70200"/>
                </a:srgbClr>
              </a:solidFill>
              <a:prstDash val="solid"/>
              <a:miter lim="400000"/>
              <a:headEnd len="sm" w="sm" type="none"/>
              <a:tailEnd len="med" w="med" type="oval"/>
            </a:ln>
          </p:spPr>
        </p:cxnSp>
        <p:sp>
          <p:nvSpPr>
            <p:cNvPr id="378" name="Google Shape;378;p43"/>
            <p:cNvSpPr txBox="1"/>
            <p:nvPr/>
          </p:nvSpPr>
          <p:spPr>
            <a:xfrm>
              <a:off x="1040494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Définition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79" name="Google Shape;379;p43"/>
            <p:cNvSpPr txBox="1"/>
            <p:nvPr/>
          </p:nvSpPr>
          <p:spPr>
            <a:xfrm>
              <a:off x="6661002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variables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80" name="Google Shape;380;p43"/>
            <p:cNvSpPr txBox="1"/>
            <p:nvPr/>
          </p:nvSpPr>
          <p:spPr>
            <a:xfrm>
              <a:off x="3850760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La base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381" name="Google Shape;381;p43"/>
          <p:cNvSpPr/>
          <p:nvPr/>
        </p:nvSpPr>
        <p:spPr>
          <a:xfrm>
            <a:off x="1491063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6" name="Google Shape;386;p44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87" name="Google Shape;387;p44"/>
          <p:cNvSpPr txBox="1"/>
          <p:nvPr/>
        </p:nvSpPr>
        <p:spPr>
          <a:xfrm>
            <a:off x="355099" y="978900"/>
            <a:ext cx="597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Mon premier script dans les règles (suite)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88" name="Google Shape;388;p44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Édition de fichier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89" name="Google Shape;389;p44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390" name="Google Shape;3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1" name="Google Shape;391;p44"/>
          <p:cNvGrpSpPr/>
          <p:nvPr/>
        </p:nvGrpSpPr>
        <p:grpSpPr>
          <a:xfrm>
            <a:off x="707937" y="134925"/>
            <a:ext cx="7901100" cy="231554"/>
            <a:chOff x="707937" y="134925"/>
            <a:chExt cx="7901100" cy="231554"/>
          </a:xfrm>
        </p:grpSpPr>
        <p:cxnSp>
          <p:nvCxnSpPr>
            <p:cNvPr id="392" name="Google Shape;392;p44"/>
            <p:cNvCxnSpPr/>
            <p:nvPr/>
          </p:nvCxnSpPr>
          <p:spPr>
            <a:xfrm>
              <a:off x="707937" y="366479"/>
              <a:ext cx="7901100" cy="0"/>
            </a:xfrm>
            <a:prstGeom prst="straightConnector1">
              <a:avLst/>
            </a:prstGeom>
            <a:noFill/>
            <a:ln cap="flat" cmpd="sng" w="12700">
              <a:solidFill>
                <a:srgbClr val="000000">
                  <a:alpha val="70200"/>
                </a:srgbClr>
              </a:solidFill>
              <a:prstDash val="solid"/>
              <a:miter lim="400000"/>
              <a:headEnd len="sm" w="sm" type="none"/>
              <a:tailEnd len="med" w="med" type="oval"/>
            </a:ln>
          </p:spPr>
        </p:cxnSp>
        <p:sp>
          <p:nvSpPr>
            <p:cNvPr id="393" name="Google Shape;393;p44"/>
            <p:cNvSpPr txBox="1"/>
            <p:nvPr/>
          </p:nvSpPr>
          <p:spPr>
            <a:xfrm>
              <a:off x="1040494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Définition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94" name="Google Shape;394;p44"/>
            <p:cNvSpPr txBox="1"/>
            <p:nvPr/>
          </p:nvSpPr>
          <p:spPr>
            <a:xfrm>
              <a:off x="6661002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variables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95" name="Google Shape;395;p44"/>
            <p:cNvSpPr txBox="1"/>
            <p:nvPr/>
          </p:nvSpPr>
          <p:spPr>
            <a:xfrm>
              <a:off x="3850760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La base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396" name="Google Shape;396;p44"/>
          <p:cNvSpPr/>
          <p:nvPr/>
        </p:nvSpPr>
        <p:spPr>
          <a:xfrm>
            <a:off x="1949925" y="1409675"/>
            <a:ext cx="69018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rgbClr val="FFFFFF"/>
                </a:solidFill>
              </a:rPr>
              <a:t> touch coucou.sh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rgbClr val="FFFFFF"/>
                </a:solidFill>
              </a:rPr>
              <a:t> nano coucou.sh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# Ajout de :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#!/bin/bash 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echo “Hello World !”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exit 0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# Enregistrer le fichier et quitter l’editeur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 chmod u+x coucou.sh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 ./coucou.sh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hello world !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397" name="Google Shape;397;p44"/>
          <p:cNvSpPr/>
          <p:nvPr/>
        </p:nvSpPr>
        <p:spPr>
          <a:xfrm>
            <a:off x="1491063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2" name="Google Shape;402;p45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403" name="Google Shape;403;p45"/>
          <p:cNvSpPr txBox="1"/>
          <p:nvPr/>
        </p:nvSpPr>
        <p:spPr>
          <a:xfrm>
            <a:off x="355099" y="978900"/>
            <a:ext cx="6438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Mon premier script dans les règles (suite)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04" name="Google Shape;404;p45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Tout en CLI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5" name="Google Shape;405;p45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406" name="Google Shape;40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" name="Google Shape;407;p45"/>
          <p:cNvGrpSpPr/>
          <p:nvPr/>
        </p:nvGrpSpPr>
        <p:grpSpPr>
          <a:xfrm>
            <a:off x="707937" y="134925"/>
            <a:ext cx="7901100" cy="231554"/>
            <a:chOff x="707937" y="134925"/>
            <a:chExt cx="7901100" cy="231554"/>
          </a:xfrm>
        </p:grpSpPr>
        <p:cxnSp>
          <p:nvCxnSpPr>
            <p:cNvPr id="408" name="Google Shape;408;p45"/>
            <p:cNvCxnSpPr/>
            <p:nvPr/>
          </p:nvCxnSpPr>
          <p:spPr>
            <a:xfrm>
              <a:off x="707937" y="366479"/>
              <a:ext cx="7901100" cy="0"/>
            </a:xfrm>
            <a:prstGeom prst="straightConnector1">
              <a:avLst/>
            </a:prstGeom>
            <a:noFill/>
            <a:ln cap="flat" cmpd="sng" w="12700">
              <a:solidFill>
                <a:srgbClr val="000000">
                  <a:alpha val="70200"/>
                </a:srgbClr>
              </a:solidFill>
              <a:prstDash val="solid"/>
              <a:miter lim="400000"/>
              <a:headEnd len="sm" w="sm" type="none"/>
              <a:tailEnd len="med" w="med" type="oval"/>
            </a:ln>
          </p:spPr>
        </p:cxnSp>
        <p:sp>
          <p:nvSpPr>
            <p:cNvPr id="409" name="Google Shape;409;p45"/>
            <p:cNvSpPr txBox="1"/>
            <p:nvPr/>
          </p:nvSpPr>
          <p:spPr>
            <a:xfrm>
              <a:off x="1040494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Définition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10" name="Google Shape;410;p45"/>
            <p:cNvSpPr txBox="1"/>
            <p:nvPr/>
          </p:nvSpPr>
          <p:spPr>
            <a:xfrm>
              <a:off x="6661002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variables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11" name="Google Shape;411;p45"/>
            <p:cNvSpPr txBox="1"/>
            <p:nvPr/>
          </p:nvSpPr>
          <p:spPr>
            <a:xfrm>
              <a:off x="3850760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La base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412" name="Google Shape;412;p45"/>
          <p:cNvSpPr/>
          <p:nvPr/>
        </p:nvSpPr>
        <p:spPr>
          <a:xfrm>
            <a:off x="1834775" y="1409675"/>
            <a:ext cx="70170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 echo '#!/bin/bash' &gt; coucou.sh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 echo 'echo “Hello World !”’  &gt;&gt; coucou.sh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 </a:t>
            </a:r>
            <a:r>
              <a:rPr lang="fr">
                <a:solidFill>
                  <a:schemeClr val="lt1"/>
                </a:solidFill>
              </a:rPr>
              <a:t>echo 'exit 0' &gt;&gt;</a:t>
            </a:r>
            <a:r>
              <a:rPr lang="fr">
                <a:solidFill>
                  <a:schemeClr val="lt1"/>
                </a:solidFill>
              </a:rPr>
              <a:t> coucou.sh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 chmod u+x coucou.sh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 ./coucou.sh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Hello World !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rgbClr val="4285F4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 ls -l coucou.sh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-rwxrw-r-- 1 wilder wilder 65 mai   17 12:00 coucou.sh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 cat coucou.sh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echo "Hello World !"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exit 0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413" name="Google Shape;413;p45"/>
          <p:cNvSpPr/>
          <p:nvPr/>
        </p:nvSpPr>
        <p:spPr>
          <a:xfrm>
            <a:off x="1491063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e_wild_code_school.png" id="418" name="Google Shape;418;p46"/>
          <p:cNvPicPr preferRelativeResize="0"/>
          <p:nvPr/>
        </p:nvPicPr>
        <p:blipFill rotWithShape="1">
          <a:blip r:embed="rId3">
            <a:alphaModFix amt="5319"/>
          </a:blip>
          <a:srcRect b="0" l="0" r="0" t="0"/>
          <a:stretch/>
        </p:blipFill>
        <p:spPr>
          <a:xfrm>
            <a:off x="-341617" y="-1174284"/>
            <a:ext cx="10269126" cy="7492067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6"/>
          <p:cNvSpPr txBox="1"/>
          <p:nvPr/>
        </p:nvSpPr>
        <p:spPr>
          <a:xfrm>
            <a:off x="1311075" y="2327513"/>
            <a:ext cx="6522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8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38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0" name="Google Shape;420;p46"/>
          <p:cNvSpPr txBox="1"/>
          <p:nvPr>
            <p:ph idx="12" type="sldNum"/>
          </p:nvPr>
        </p:nvSpPr>
        <p:spPr>
          <a:xfrm>
            <a:off x="4500563" y="4905375"/>
            <a:ext cx="214800" cy="1617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fld id="{00000000-1234-1234-1234-123412341234}" type="slidenum">
              <a:rPr lang="fr" sz="800"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cone_wild_code_school.png" id="421" name="Google Shape;42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2" name="Google Shape;422;p46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423" name="Google Shape;423;p46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4" name="Google Shape;424;p46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5" name="Google Shape;425;p46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6" name="Google Shape;426;p46"/>
          <p:cNvSpPr/>
          <p:nvPr/>
        </p:nvSpPr>
        <p:spPr>
          <a:xfrm>
            <a:off x="431276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1" name="Google Shape;431;p47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432" name="Google Shape;432;p47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Parser des lignes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33" name="Google Shape;433;p47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Back to basics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4" name="Google Shape;434;p47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Le shell lit un flux de caractères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Entrés au clavier en mode interactif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Lus dans un fichier en mode script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Pour chaque ligne il analyse la ligne caractère par caractère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Reconnaître les mots (analyse lexicale)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Reconnaître les phrases (analyse syntaxique)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Exécuter la (ou les) commande(s) 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Un ligne se termine par le caractère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newline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(obtenu via touche ⏎)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5" name="Google Shape;435;p47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436" name="Google Shape;43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7" name="Google Shape;437;p47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438" name="Google Shape;438;p47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39" name="Google Shape;439;p47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40" name="Google Shape;440;p47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41" name="Google Shape;441;p47"/>
          <p:cNvSpPr/>
          <p:nvPr/>
        </p:nvSpPr>
        <p:spPr>
          <a:xfrm>
            <a:off x="431276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6" name="Google Shape;446;p48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447" name="Google Shape;447;p48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Les métacaractères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48" name="Google Shape;448;p48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Un autre sens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9" name="Google Shape;449;p48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Un métacaractère est un séparateur de mots pour bash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Les "blancs" :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espace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et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tabulation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(⇆)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La fin de ligne :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newline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(⏎)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Les autres :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 | || &amp; &amp;&amp; ; ( ) &lt; &gt; # “ ‘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Forment les opérateurs de contrôle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Permettent les séquences de commandes, redirections, pipelines…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Le caractère d'échappement :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\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supprime la fonction particulière du caractère suivant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50" name="Google Shape;450;p48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451" name="Google Shape;45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2" name="Google Shape;452;p48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453" name="Google Shape;453;p48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4" name="Google Shape;454;p48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5" name="Google Shape;455;p48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6" name="Google Shape;456;p48"/>
          <p:cNvSpPr/>
          <p:nvPr/>
        </p:nvSpPr>
        <p:spPr>
          <a:xfrm>
            <a:off x="431276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1" name="Google Shape;461;p49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462" name="Google Shape;462;p49"/>
          <p:cNvSpPr txBox="1"/>
          <p:nvPr/>
        </p:nvSpPr>
        <p:spPr>
          <a:xfrm>
            <a:off x="355099" y="978900"/>
            <a:ext cx="5970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Les métacaractères (suite)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63" name="Google Shape;463;p49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Suite de commandes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64" name="Google Shape;464;p49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465" name="Google Shape;46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6" name="Google Shape;466;p49"/>
          <p:cNvGrpSpPr/>
          <p:nvPr/>
        </p:nvGrpSpPr>
        <p:grpSpPr>
          <a:xfrm>
            <a:off x="707937" y="134925"/>
            <a:ext cx="7901100" cy="231554"/>
            <a:chOff x="707937" y="134925"/>
            <a:chExt cx="7901100" cy="231554"/>
          </a:xfrm>
        </p:grpSpPr>
        <p:cxnSp>
          <p:nvCxnSpPr>
            <p:cNvPr id="467" name="Google Shape;467;p49"/>
            <p:cNvCxnSpPr/>
            <p:nvPr/>
          </p:nvCxnSpPr>
          <p:spPr>
            <a:xfrm>
              <a:off x="707937" y="366479"/>
              <a:ext cx="7901100" cy="0"/>
            </a:xfrm>
            <a:prstGeom prst="straightConnector1">
              <a:avLst/>
            </a:prstGeom>
            <a:noFill/>
            <a:ln cap="flat" cmpd="sng" w="12700">
              <a:solidFill>
                <a:srgbClr val="000000">
                  <a:alpha val="70200"/>
                </a:srgbClr>
              </a:solidFill>
              <a:prstDash val="solid"/>
              <a:miter lim="400000"/>
              <a:headEnd len="sm" w="sm" type="none"/>
              <a:tailEnd len="med" w="med" type="oval"/>
            </a:ln>
          </p:spPr>
        </p:cxnSp>
        <p:sp>
          <p:nvSpPr>
            <p:cNvPr id="468" name="Google Shape;468;p49"/>
            <p:cNvSpPr txBox="1"/>
            <p:nvPr/>
          </p:nvSpPr>
          <p:spPr>
            <a:xfrm>
              <a:off x="1040494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Définition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69" name="Google Shape;469;p49"/>
            <p:cNvSpPr txBox="1"/>
            <p:nvPr/>
          </p:nvSpPr>
          <p:spPr>
            <a:xfrm>
              <a:off x="6661002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variables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70" name="Google Shape;470;p49"/>
            <p:cNvSpPr txBox="1"/>
            <p:nvPr/>
          </p:nvSpPr>
          <p:spPr>
            <a:xfrm>
              <a:off x="3850760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La base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471" name="Google Shape;471;p49"/>
          <p:cNvSpPr/>
          <p:nvPr/>
        </p:nvSpPr>
        <p:spPr>
          <a:xfrm>
            <a:off x="1949925" y="1409675"/>
            <a:ext cx="69018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rgbClr val="FFFFFF"/>
                </a:solidFill>
              </a:rPr>
              <a:t> echo Bonjour ; echo tout le monde ; echo ""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Bonjour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tout le monde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rgbClr val="FFFFFF"/>
                </a:solidFill>
              </a:rPr>
              <a:t> </a:t>
            </a:r>
            <a:r>
              <a:rPr lang="fr">
                <a:solidFill>
                  <a:schemeClr val="lt1"/>
                </a:solidFill>
              </a:rPr>
              <a:t>echo Bonjour &amp;&amp; echo tout le monde &amp;&amp; echo ""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Bonjour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tout le monde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 echo -e "Bonjour \ntout le monde\n"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Bonjour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tout le monde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2" name="Google Shape;472;p49"/>
          <p:cNvSpPr/>
          <p:nvPr/>
        </p:nvSpPr>
        <p:spPr>
          <a:xfrm>
            <a:off x="431276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7" name="Google Shape;477;p50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478" name="Google Shape;478;p50"/>
          <p:cNvSpPr txBox="1"/>
          <p:nvPr/>
        </p:nvSpPr>
        <p:spPr>
          <a:xfrm>
            <a:off x="355104" y="978900"/>
            <a:ext cx="5130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Les métacaractères (suite)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79" name="Google Shape;479;p50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Un exemple plus complexe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80" name="Google Shape;480;p50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81" name="Google Shape;481;p50"/>
          <p:cNvSpPr/>
          <p:nvPr/>
        </p:nvSpPr>
        <p:spPr>
          <a:xfrm>
            <a:off x="1971150" y="1409675"/>
            <a:ext cx="68805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mkdir main\&amp; &amp;&amp; mkdir main\&amp;/sub1 \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main\&amp;/sub2 \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&gt; main\&amp;/sub3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ll ; ll main\&amp;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total 36K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drwxrwxr-x  4 wilder wilder 4,0K mai   18 10:07  ./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drwxr-x--- 28 wilder wilder 4,0K mai   18 09:06  ../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drwxrwxr-x  5 wilder wilder 4,0K mai   18 10:07 'main&amp;'/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total 20K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drwxrwxr-x 5 wilder wilder 4,0K mai   18 10:07 ./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drwxrwxr-x 4 wilder wilder 4,0K mai   18 10:07 ../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drwxrwxr-x 2 wilder wilder 4,0K mai   18 10:07 sub1/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drwxrwxr-x 2 wilder wilder 4,0K mai   18 10:07 sub2/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drwxrwxr-x 2 wilder wilder 4,0K mai   18 10:07 sub3/</a:t>
            </a:r>
            <a:endParaRPr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pic>
        <p:nvPicPr>
          <p:cNvPr descr="icone_wild_code_school.png" id="482" name="Google Shape;48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3" name="Google Shape;483;p50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484" name="Google Shape;484;p50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85" name="Google Shape;485;p50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86" name="Google Shape;486;p50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87" name="Google Shape;487;p50"/>
          <p:cNvSpPr/>
          <p:nvPr/>
        </p:nvSpPr>
        <p:spPr>
          <a:xfrm>
            <a:off x="431276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2" name="Google Shape;492;p51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493" name="Google Shape;493;p51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Les commandes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94" name="Google Shape;494;p51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Anatomie d'une commande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95" name="Google Shape;495;p51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Commande simple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Suite de mots séparés par des "blancs"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Terminée par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newline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ou un opérateur de contrôle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Premier mot =&gt; nom de la commande. Doit correspondre à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une commande interne (cd, exit, umask…)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un chemin (avec des /) =&gt; emplacement d'un programme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un nom de fonction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u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n nom d'exécutable dans un des dossiers de PATH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Les autres mots sont les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arguments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(vu plus tard) de la commande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6" name="Google Shape;496;p51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497" name="Google Shape;49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8" name="Google Shape;498;p51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499" name="Google Shape;499;p51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00" name="Google Shape;500;p51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01" name="Google Shape;501;p51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02" name="Google Shape;502;p51"/>
          <p:cNvSpPr/>
          <p:nvPr/>
        </p:nvSpPr>
        <p:spPr>
          <a:xfrm>
            <a:off x="431276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7" name="Google Shape;507;p52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508" name="Google Shape;508;p52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Quotes &amp; Double quotes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09" name="Google Shape;509;p52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Quoting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10" name="Google Shape;510;p52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Bash permet d'encapsuler des caractères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i="1" lang="fr" sz="1900">
                <a:latin typeface="Proxima Nova"/>
                <a:ea typeface="Proxima Nova"/>
                <a:cs typeface="Proxima Nova"/>
                <a:sym typeface="Proxima Nova"/>
              </a:rPr>
              <a:t>Single quotes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(apostrophes)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'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Aucun métacaractère sauf ' =&gt; fin de la chaîne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i="1" lang="fr" sz="1900">
                <a:latin typeface="Proxima Nova"/>
                <a:ea typeface="Proxima Nova"/>
                <a:cs typeface="Proxima Nova"/>
                <a:sym typeface="Proxima Nova"/>
              </a:rPr>
              <a:t>Double quotes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(guillemets doubles)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"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Métacaractères :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$ ` "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et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\ 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Attention à ne pas confondre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'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et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`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11" name="Google Shape;511;p52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512" name="Google Shape;51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3" name="Google Shape;513;p52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514" name="Google Shape;514;p52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15" name="Google Shape;515;p52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16" name="Google Shape;516;p52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17" name="Google Shape;517;p52"/>
          <p:cNvSpPr/>
          <p:nvPr/>
        </p:nvSpPr>
        <p:spPr>
          <a:xfrm>
            <a:off x="431276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2" name="Google Shape;522;p53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523" name="Google Shape;523;p53"/>
          <p:cNvSpPr txBox="1"/>
          <p:nvPr/>
        </p:nvSpPr>
        <p:spPr>
          <a:xfrm>
            <a:off x="355100" y="978900"/>
            <a:ext cx="7797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Quotes &amp; Double quotes (suite)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24" name="Google Shape;524;p53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Suite de commandes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5" name="Google Shape;525;p53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526" name="Google Shape;52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7" name="Google Shape;527;p53"/>
          <p:cNvGrpSpPr/>
          <p:nvPr/>
        </p:nvGrpSpPr>
        <p:grpSpPr>
          <a:xfrm>
            <a:off x="707937" y="134925"/>
            <a:ext cx="7901100" cy="231554"/>
            <a:chOff x="707937" y="134925"/>
            <a:chExt cx="7901100" cy="231554"/>
          </a:xfrm>
        </p:grpSpPr>
        <p:cxnSp>
          <p:nvCxnSpPr>
            <p:cNvPr id="528" name="Google Shape;528;p53"/>
            <p:cNvCxnSpPr/>
            <p:nvPr/>
          </p:nvCxnSpPr>
          <p:spPr>
            <a:xfrm>
              <a:off x="707937" y="366479"/>
              <a:ext cx="7901100" cy="0"/>
            </a:xfrm>
            <a:prstGeom prst="straightConnector1">
              <a:avLst/>
            </a:prstGeom>
            <a:noFill/>
            <a:ln cap="flat" cmpd="sng" w="12700">
              <a:solidFill>
                <a:srgbClr val="000000">
                  <a:alpha val="70200"/>
                </a:srgbClr>
              </a:solidFill>
              <a:prstDash val="solid"/>
              <a:miter lim="400000"/>
              <a:headEnd len="sm" w="sm" type="none"/>
              <a:tailEnd len="med" w="med" type="oval"/>
            </a:ln>
          </p:spPr>
        </p:cxnSp>
        <p:sp>
          <p:nvSpPr>
            <p:cNvPr id="529" name="Google Shape;529;p53"/>
            <p:cNvSpPr txBox="1"/>
            <p:nvPr/>
          </p:nvSpPr>
          <p:spPr>
            <a:xfrm>
              <a:off x="1040494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Définition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30" name="Google Shape;530;p53"/>
            <p:cNvSpPr txBox="1"/>
            <p:nvPr/>
          </p:nvSpPr>
          <p:spPr>
            <a:xfrm>
              <a:off x="6661002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variables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31" name="Google Shape;531;p53"/>
            <p:cNvSpPr txBox="1"/>
            <p:nvPr/>
          </p:nvSpPr>
          <p:spPr>
            <a:xfrm>
              <a:off x="3850760" y="134925"/>
              <a:ext cx="14379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fr" sz="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La base</a:t>
              </a:r>
              <a:endParaRPr sz="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532" name="Google Shape;532;p53"/>
          <p:cNvSpPr/>
          <p:nvPr/>
        </p:nvSpPr>
        <p:spPr>
          <a:xfrm>
            <a:off x="1949925" y="1409675"/>
            <a:ext cx="69018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rgbClr val="FFFFFF"/>
                </a:solidFill>
              </a:rPr>
              <a:t> </a:t>
            </a:r>
            <a:r>
              <a:rPr lang="fr">
                <a:solidFill>
                  <a:srgbClr val="FFFFFF"/>
                </a:solidFill>
              </a:rPr>
              <a:t>nom="Wilder"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rgbClr val="FFFFFF"/>
                </a:solidFill>
              </a:rPr>
              <a:t> </a:t>
            </a:r>
            <a:r>
              <a:rPr lang="fr">
                <a:solidFill>
                  <a:schemeClr val="lt1"/>
                </a:solidFill>
              </a:rPr>
              <a:t>echo 'Bonjour $nom'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Bonjour $nom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 </a:t>
            </a:r>
            <a:r>
              <a:rPr lang="fr">
                <a:solidFill>
                  <a:schemeClr val="lt1"/>
                </a:solidFill>
              </a:rPr>
              <a:t>echo "Bonjour $nom"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Bonjour Wilder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33" name="Google Shape;533;p53"/>
          <p:cNvSpPr/>
          <p:nvPr/>
        </p:nvSpPr>
        <p:spPr>
          <a:xfrm>
            <a:off x="431276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e_wild_code_school.png" id="538" name="Google Shape;538;p54"/>
          <p:cNvPicPr preferRelativeResize="0"/>
          <p:nvPr/>
        </p:nvPicPr>
        <p:blipFill rotWithShape="1">
          <a:blip r:embed="rId3">
            <a:alphaModFix amt="5319"/>
          </a:blip>
          <a:srcRect b="0" l="0" r="0" t="0"/>
          <a:stretch/>
        </p:blipFill>
        <p:spPr>
          <a:xfrm>
            <a:off x="-341617" y="-1174284"/>
            <a:ext cx="10269126" cy="7492067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54"/>
          <p:cNvSpPr txBox="1"/>
          <p:nvPr/>
        </p:nvSpPr>
        <p:spPr>
          <a:xfrm>
            <a:off x="1311075" y="2327513"/>
            <a:ext cx="6522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8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38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40" name="Google Shape;540;p54"/>
          <p:cNvSpPr txBox="1"/>
          <p:nvPr>
            <p:ph idx="12" type="sldNum"/>
          </p:nvPr>
        </p:nvSpPr>
        <p:spPr>
          <a:xfrm>
            <a:off x="4500563" y="4905375"/>
            <a:ext cx="214800" cy="1617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fld id="{00000000-1234-1234-1234-123412341234}" type="slidenum">
              <a:rPr lang="fr" sz="800"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cone_wild_code_school.png" id="541" name="Google Shape;54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2" name="Google Shape;542;p54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543" name="Google Shape;543;p54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44" name="Google Shape;544;p54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45" name="Google Shape;545;p54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46" name="Google Shape;546;p54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1" name="Google Shape;551;p55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552" name="Google Shape;552;p55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C'est quoi une variable ?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3" name="Google Shape;553;p55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Définition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4" name="Google Shape;554;p55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Un contenant nommé pour une valeur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Nom choisi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Permet de stocker une valeur =&gt; chaque nouvelle écriture d'une valeur remplace la précédente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Permet de récupérer la dernière valeur stockée autant de fois qu'on le souhaite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5" name="Google Shape;555;p55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556" name="Google Shape;55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7" name="Google Shape;557;p55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558" name="Google Shape;558;p55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9" name="Google Shape;559;p55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60" name="Google Shape;560;p55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61" name="Google Shape;561;p55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6" name="Google Shape;566;p56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567" name="Google Shape;567;p56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Identifiant de variable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68" name="Google Shape;568;p56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Nommer ses variables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9" name="Google Shape;569;p56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Un identifiant de variable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Commence par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une lettre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ou un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_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Est constitué uniquement de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lettres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chiffres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et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_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Doit être unique et ne pas être un mot clé du langage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 u="sng">
                <a:latin typeface="Proxima Nova"/>
                <a:ea typeface="Proxima Nova"/>
                <a:cs typeface="Proxima Nova"/>
                <a:sym typeface="Proxima Nova"/>
              </a:rPr>
              <a:t>Est sensible à la casse</a:t>
            </a:r>
            <a:endParaRPr sz="1900" u="sng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0" name="Google Shape;570;p56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571" name="Google Shape;57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2" name="Google Shape;572;p56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573" name="Google Shape;573;p56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4" name="Google Shape;574;p56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5" name="Google Shape;575;p56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6" name="Google Shape;576;p56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1" name="Google Shape;581;p57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582" name="Google Shape;582;p57"/>
          <p:cNvSpPr txBox="1"/>
          <p:nvPr/>
        </p:nvSpPr>
        <p:spPr>
          <a:xfrm>
            <a:off x="355099" y="978900"/>
            <a:ext cx="7018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Quels sont les noms de variables valides ? 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83" name="Google Shape;583;p57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Quizz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4" name="Google Shape;584;p57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585" name="Google Shape;58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6" name="Google Shape;586;p57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587" name="Google Shape;587;p57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88" name="Google Shape;588;p57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89" name="Google Shape;589;p57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90" name="Google Shape;590;p57"/>
          <p:cNvSpPr txBox="1"/>
          <p:nvPr/>
        </p:nvSpPr>
        <p:spPr>
          <a:xfrm>
            <a:off x="1971150" y="1782625"/>
            <a:ext cx="3978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✅​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some-variable	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1" name="Google Shape;591;p57"/>
          <p:cNvSpPr txBox="1"/>
          <p:nvPr/>
        </p:nvSpPr>
        <p:spPr>
          <a:xfrm>
            <a:off x="1971150" y="2095588"/>
            <a:ext cx="3978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❌​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some_variable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2" name="Google Shape;592;p57"/>
          <p:cNvSpPr txBox="1"/>
          <p:nvPr/>
        </p:nvSpPr>
        <p:spPr>
          <a:xfrm>
            <a:off x="1971150" y="1455275"/>
            <a:ext cx="3978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someVariable	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3" name="Google Shape;593;p57"/>
          <p:cNvSpPr txBox="1"/>
          <p:nvPr/>
        </p:nvSpPr>
        <p:spPr>
          <a:xfrm>
            <a:off x="1971150" y="3746725"/>
            <a:ext cx="3978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❌​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4" name="Google Shape;594;p57"/>
          <p:cNvSpPr txBox="1"/>
          <p:nvPr/>
        </p:nvSpPr>
        <p:spPr>
          <a:xfrm>
            <a:off x="1971150" y="2437325"/>
            <a:ext cx="3978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✅​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variable1	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5" name="Google Shape;595;p57"/>
          <p:cNvSpPr txBox="1"/>
          <p:nvPr/>
        </p:nvSpPr>
        <p:spPr>
          <a:xfrm>
            <a:off x="1971150" y="2764675"/>
            <a:ext cx="3978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✅​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1variable	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1971150" y="3092025"/>
            <a:ext cx="3978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❌​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my@mail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7" name="Google Shape;597;p57"/>
          <p:cNvSpPr txBox="1"/>
          <p:nvPr/>
        </p:nvSpPr>
        <p:spPr>
          <a:xfrm>
            <a:off x="1971150" y="3419375"/>
            <a:ext cx="3978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❌​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importantVariable!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8" name="Google Shape;598;p57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3" name="Google Shape;603;p58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604" name="Google Shape;604;p58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Convention de nom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05" name="Google Shape;605;p58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Lisibilité (part 2)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06" name="Google Shape;606;p58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En plus des règles imposées par le langage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Donner des noms signifiants (et éviter les abréviations)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En anglais (dans l'éventualité où vos scripts seront relus)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En minuscule pour les différencier des variables prédéfinies qui sont en majuscules (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PATH, SHELL, HOME, USER, PS1…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Les shell est sensible à la casse, donc “VARIABLE1” est différent de “variable1”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07" name="Google Shape;607;p58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608" name="Google Shape;60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9" name="Google Shape;609;p58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610" name="Google Shape;610;p58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1" name="Google Shape;611;p58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2" name="Google Shape;612;p58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3" name="Google Shape;613;p58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8" name="Google Shape;618;p59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619" name="Google Shape;619;p59"/>
          <p:cNvSpPr txBox="1"/>
          <p:nvPr/>
        </p:nvSpPr>
        <p:spPr>
          <a:xfrm>
            <a:off x="355109" y="978900"/>
            <a:ext cx="6592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Convention de nommage pour les scripts bash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20" name="Google Shape;620;p59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Lisibilité (part 2)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21" name="Google Shape;621;p59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En règle générale, on utilise la convention de nommage </a:t>
            </a: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snake_case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out en minuscule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Les mots sont séparés par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_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Exemple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create_user_account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function_add_users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22" name="Google Shape;622;p59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623" name="Google Shape;62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4" name="Google Shape;624;p59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625" name="Google Shape;625;p59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6" name="Google Shape;626;p59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7" name="Google Shape;627;p59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8" name="Google Shape;628;p59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3" name="Google Shape;633;p60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634" name="Google Shape;634;p60"/>
          <p:cNvSpPr txBox="1"/>
          <p:nvPr/>
        </p:nvSpPr>
        <p:spPr>
          <a:xfrm>
            <a:off x="355109" y="978900"/>
            <a:ext cx="6592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Autres conventions de nommage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35" name="Google Shape;635;p60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Lisibilité (part 2)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6" name="Google Shape;636;p60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camelCase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ettre majuscule au début de chaque mot sauf le premier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Tous les mots sont attachés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Ex : createUserAccount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PascalCase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Comme le camelCase mais chaque mot commence par une majuscule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Ex : CreateUserAccount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7" name="Google Shape;637;p60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638" name="Google Shape;638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9" name="Google Shape;639;p60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640" name="Google Shape;640;p60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41" name="Google Shape;641;p60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42" name="Google Shape;642;p60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43" name="Google Shape;643;p60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8" name="Google Shape;648;p61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649" name="Google Shape;649;p61"/>
          <p:cNvSpPr txBox="1"/>
          <p:nvPr/>
        </p:nvSpPr>
        <p:spPr>
          <a:xfrm>
            <a:off x="355104" y="978900"/>
            <a:ext cx="5130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Utiliser des variables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50" name="Google Shape;650;p61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Comment ça marche ?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1" name="Google Shape;651;p61"/>
          <p:cNvSpPr txBox="1"/>
          <p:nvPr/>
        </p:nvSpPr>
        <p:spPr>
          <a:xfrm>
            <a:off x="1726775" y="1463150"/>
            <a:ext cx="3631800" cy="34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Syntaxe :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nomVariable=valeur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(Attention : pas d'espaces !)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Par défaut :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string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ccède à leur valeur avec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$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étruire une variable :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unset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52" name="Google Shape;652;p61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653" name="Google Shape;65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4" name="Google Shape;654;p61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655" name="Google Shape;655;p61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56" name="Google Shape;656;p61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57" name="Google Shape;657;p61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58" name="Google Shape;658;p61"/>
          <p:cNvSpPr/>
          <p:nvPr/>
        </p:nvSpPr>
        <p:spPr>
          <a:xfrm>
            <a:off x="5358450" y="1409675"/>
            <a:ext cx="35928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rgbClr val="4285F4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 greetings="Coucou"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"$greetings"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Coucou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greetings="Bonjour"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"$greetings"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Bonjour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myDirectory="MonDossier"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mkdir $myDirectory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ls | grep "Mon"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DB4437"/>
                </a:solidFill>
              </a:rPr>
              <a:t>Mon</a:t>
            </a:r>
            <a:r>
              <a:rPr lang="fr">
                <a:solidFill>
                  <a:schemeClr val="lt1"/>
                </a:solidFill>
              </a:rPr>
              <a:t>Dossier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unset greetings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"$greetings"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659" name="Google Shape;659;p61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4" name="Google Shape;664;p62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665" name="Google Shape;665;p62"/>
          <p:cNvSpPr txBox="1"/>
          <p:nvPr/>
        </p:nvSpPr>
        <p:spPr>
          <a:xfrm>
            <a:off x="355104" y="978900"/>
            <a:ext cx="5130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Un petit exercice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66" name="Google Shape;666;p62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À vous de jouer !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7" name="Google Shape;667;p62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AutoNum type="arabicPeriod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Déclarer une variable commande ayant pour valeur 'whoami'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AutoNum type="arabicPeriod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Afficher la valeur de la variable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AutoNum type="arabicPeriod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Exécuter whoami en utilisant la variable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68" name="Google Shape;668;p62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669" name="Google Shape;669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0" name="Google Shape;670;p62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671" name="Google Shape;671;p62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72" name="Google Shape;672;p62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73" name="Google Shape;673;p62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74" name="Google Shape;674;p62"/>
          <p:cNvSpPr/>
          <p:nvPr/>
        </p:nvSpPr>
        <p:spPr>
          <a:xfrm>
            <a:off x="5198550" y="1410125"/>
            <a:ext cx="37014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commande='whoami'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$commande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whoami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$commande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wilder</a:t>
            </a:r>
            <a:endParaRPr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675" name="Google Shape;675;p62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0" name="Google Shape;680;p63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681" name="Google Shape;681;p63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Arguments et paramètres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82" name="Google Shape;682;p63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Anatomie d'une commande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83" name="Google Shape;683;p63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Les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arguments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d’un script sont des valeurs passées à un script lors de son exécution.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Ils permettent de donner des données au code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Ils ne modifient pas le corps du script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Cela permet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d'exécuter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plusieurs fois un script avec des données différentes.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Dans le script, la valeur des arguments (qui deviennent des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paramètres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) est récupérée </a:t>
            </a:r>
            <a:r>
              <a:rPr lang="fr" sz="1900" u="sng">
                <a:latin typeface="Proxima Nova"/>
                <a:ea typeface="Proxima Nova"/>
                <a:cs typeface="Proxima Nova"/>
                <a:sym typeface="Proxima Nova"/>
              </a:rPr>
              <a:t>dans l’ordre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avec les variables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$1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$2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$3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, etc.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63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685" name="Google Shape;68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6" name="Google Shape;686;p63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687" name="Google Shape;687;p63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88" name="Google Shape;688;p63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89" name="Google Shape;689;p63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0" name="Google Shape;690;p63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5" name="Google Shape;695;p64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696" name="Google Shape;696;p64"/>
          <p:cNvSpPr txBox="1"/>
          <p:nvPr/>
        </p:nvSpPr>
        <p:spPr>
          <a:xfrm>
            <a:off x="355106" y="978900"/>
            <a:ext cx="566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Arguments et paramètres (suite)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97" name="Google Shape;697;p64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Vs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98" name="Google Shape;698;p64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Différence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Argument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(en dehors du script)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latin typeface="Proxima Nova"/>
                <a:ea typeface="Proxima Nova"/>
                <a:cs typeface="Proxima Nova"/>
                <a:sym typeface="Proxima Nova"/>
              </a:rPr>
              <a:t>Valeur réelle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passée au script lors de son exécution.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Paramètre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(à l’intérieur du script)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latin typeface="Proxima Nova"/>
                <a:ea typeface="Proxima Nova"/>
                <a:cs typeface="Proxima Nova"/>
                <a:sym typeface="Proxima Nova"/>
              </a:rPr>
              <a:t>Nom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utilisé dans le script pour recevoir une valeur.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9" name="Google Shape;699;p64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700" name="Google Shape;70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1" name="Google Shape;701;p64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702" name="Google Shape;702;p64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03" name="Google Shape;703;p64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04" name="Google Shape;704;p64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05" name="Google Shape;705;p64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0" name="Google Shape;710;p65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711" name="Google Shape;711;p65"/>
          <p:cNvSpPr txBox="1"/>
          <p:nvPr/>
        </p:nvSpPr>
        <p:spPr>
          <a:xfrm>
            <a:off x="355104" y="978900"/>
            <a:ext cx="5130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Arguments et paramètres (suite)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12" name="Google Shape;712;p65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À vous de jouer !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13" name="Google Shape;713;p65"/>
          <p:cNvSpPr txBox="1"/>
          <p:nvPr/>
        </p:nvSpPr>
        <p:spPr>
          <a:xfrm>
            <a:off x="1971150" y="1455275"/>
            <a:ext cx="3471600" cy="31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Écrit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le script suivant.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Exécute le 2 fois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La première fois sans argument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La seconde avec “Bob” et “Alice”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4" name="Google Shape;714;p65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715" name="Google Shape;71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6" name="Google Shape;716;p65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717" name="Google Shape;717;p65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18" name="Google Shape;718;p65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19" name="Google Shape;719;p65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20" name="Google Shape;720;p65"/>
          <p:cNvSpPr/>
          <p:nvPr/>
        </p:nvSpPr>
        <p:spPr>
          <a:xfrm>
            <a:off x="5442750" y="1309800"/>
            <a:ext cx="3471600" cy="32811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echo "Bonjour $1 !"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echo "Je cherche $2, l’as-tu vu ?"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exit 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 ./script.sh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Bonjour  !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Je cherche , l’as-tu vu ?</a:t>
            </a:r>
            <a:endParaRPr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 ./script.sh Bob Alice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Bonjour Bob !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Je cherche Alice, l’as-tu vu 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21" name="Google Shape;721;p65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6" name="Google Shape;726;p66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727" name="Google Shape;727;p66"/>
          <p:cNvSpPr txBox="1"/>
          <p:nvPr/>
        </p:nvSpPr>
        <p:spPr>
          <a:xfrm>
            <a:off x="355104" y="978900"/>
            <a:ext cx="5130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Un autre exercice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28" name="Google Shape;728;p66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À vous de jouer !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29" name="Google Shape;729;p66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latin typeface="Proxima Nova"/>
                <a:ea typeface="Proxima Nova"/>
                <a:cs typeface="Proxima Nova"/>
                <a:sym typeface="Proxima Nova"/>
              </a:rPr>
              <a:t>notify-send sert à envoyer une </a:t>
            </a:r>
            <a:r>
              <a:rPr i="1" lang="fr" sz="1600">
                <a:latin typeface="Proxima Nova"/>
                <a:ea typeface="Proxima Nova"/>
                <a:cs typeface="Proxima Nova"/>
                <a:sym typeface="Proxima Nova"/>
              </a:rPr>
              <a:t>desktop notification</a:t>
            </a:r>
            <a:r>
              <a:rPr lang="fr" sz="16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oxima Nova"/>
              <a:buAutoNum type="arabicPeriod"/>
            </a:pPr>
            <a:r>
              <a:rPr lang="fr" sz="1600">
                <a:latin typeface="Proxima Nova"/>
                <a:ea typeface="Proxima Nova"/>
                <a:cs typeface="Proxima Nova"/>
                <a:sym typeface="Proxima Nova"/>
              </a:rPr>
              <a:t>Consulter le </a:t>
            </a:r>
            <a:r>
              <a:rPr b="1" lang="fr" sz="1600">
                <a:latin typeface="Proxima Nova"/>
                <a:ea typeface="Proxima Nova"/>
                <a:cs typeface="Proxima Nova"/>
                <a:sym typeface="Proxima Nova"/>
              </a:rPr>
              <a:t>man </a:t>
            </a:r>
            <a:r>
              <a:rPr lang="fr" sz="1600">
                <a:latin typeface="Proxima Nova"/>
                <a:ea typeface="Proxima Nova"/>
                <a:cs typeface="Proxima Nova"/>
                <a:sym typeface="Proxima Nova"/>
              </a:rPr>
              <a:t>de </a:t>
            </a:r>
            <a:r>
              <a:rPr b="1" lang="fr" sz="1600">
                <a:latin typeface="Proxima Nova"/>
                <a:ea typeface="Proxima Nova"/>
                <a:cs typeface="Proxima Nova"/>
                <a:sym typeface="Proxima Nova"/>
              </a:rPr>
              <a:t>notify-send</a:t>
            </a:r>
            <a:r>
              <a:rPr lang="fr" sz="1600">
                <a:latin typeface="Proxima Nova"/>
                <a:ea typeface="Proxima Nova"/>
                <a:cs typeface="Proxima Nova"/>
                <a:sym typeface="Proxima Nova"/>
              </a:rPr>
              <a:t> ou au moins la syntaxe avec </a:t>
            </a:r>
            <a:r>
              <a:rPr b="1" lang="fr" sz="1600">
                <a:latin typeface="Proxima Nova"/>
                <a:ea typeface="Proxima Nova"/>
                <a:cs typeface="Proxima Nova"/>
                <a:sym typeface="Proxima Nova"/>
              </a:rPr>
              <a:t>notify-send --help</a:t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oxima Nova"/>
              <a:buAutoNum type="arabicPeriod"/>
            </a:pPr>
            <a:r>
              <a:rPr lang="fr" sz="1600">
                <a:latin typeface="Proxima Nova"/>
                <a:ea typeface="Proxima Nova"/>
                <a:cs typeface="Proxima Nova"/>
                <a:sym typeface="Proxima Nova"/>
              </a:rPr>
              <a:t>Déclarer une variable </a:t>
            </a:r>
            <a:r>
              <a:rPr b="1" lang="fr" sz="1600">
                <a:latin typeface="Proxima Nova"/>
                <a:ea typeface="Proxima Nova"/>
                <a:cs typeface="Proxima Nova"/>
                <a:sym typeface="Proxima Nova"/>
              </a:rPr>
              <a:t>notify </a:t>
            </a:r>
            <a:r>
              <a:rPr lang="fr" sz="1600">
                <a:latin typeface="Proxima Nova"/>
                <a:ea typeface="Proxima Nova"/>
                <a:cs typeface="Proxima Nova"/>
                <a:sym typeface="Proxima Nova"/>
              </a:rPr>
              <a:t>ayant pour valeur </a:t>
            </a:r>
            <a:r>
              <a:rPr b="1" lang="fr" sz="1600">
                <a:latin typeface="Proxima Nova"/>
                <a:ea typeface="Proxima Nova"/>
                <a:cs typeface="Proxima Nova"/>
                <a:sym typeface="Proxima Nova"/>
              </a:rPr>
              <a:t>notify-send</a:t>
            </a:r>
            <a:endParaRPr b="1"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roxima Nova"/>
              <a:buAutoNum type="arabicPeriod"/>
            </a:pPr>
            <a:r>
              <a:rPr lang="fr" sz="1600">
                <a:latin typeface="Proxima Nova"/>
                <a:ea typeface="Proxima Nova"/>
                <a:cs typeface="Proxima Nova"/>
                <a:sym typeface="Proxima Nova"/>
              </a:rPr>
              <a:t>Afficher la notification de résumé </a:t>
            </a:r>
            <a:r>
              <a:rPr b="1" lang="fr" sz="1600">
                <a:latin typeface="Proxima Nova"/>
                <a:ea typeface="Proxima Nova"/>
                <a:cs typeface="Proxima Nova"/>
                <a:sym typeface="Proxima Nova"/>
              </a:rPr>
              <a:t>'Plop'</a:t>
            </a:r>
            <a:r>
              <a:rPr lang="fr" sz="1600">
                <a:latin typeface="Proxima Nova"/>
                <a:ea typeface="Proxima Nova"/>
                <a:cs typeface="Proxima Nova"/>
                <a:sym typeface="Proxima Nova"/>
              </a:rPr>
              <a:t> avec le texte : </a:t>
            </a:r>
            <a:r>
              <a:rPr b="1" lang="fr" sz="1600">
                <a:latin typeface="Proxima Nova"/>
                <a:ea typeface="Proxima Nova"/>
                <a:cs typeface="Proxima Nova"/>
                <a:sym typeface="Proxima Nova"/>
              </a:rPr>
              <a:t>'Message envoyé via notify-send'</a:t>
            </a:r>
            <a:r>
              <a:rPr lang="fr" sz="1600">
                <a:latin typeface="Proxima Nova"/>
                <a:ea typeface="Proxima Nova"/>
                <a:cs typeface="Proxima Nova"/>
                <a:sym typeface="Proxima Nova"/>
              </a:rPr>
              <a:t> en utilisant la variable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0" name="Google Shape;730;p66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731" name="Google Shape;73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2" name="Google Shape;732;p66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733" name="Google Shape;733;p66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34" name="Google Shape;734;p66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35" name="Google Shape;735;p66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36" name="Google Shape;736;p66"/>
          <p:cNvSpPr/>
          <p:nvPr/>
        </p:nvSpPr>
        <p:spPr>
          <a:xfrm>
            <a:off x="5442750" y="1409675"/>
            <a:ext cx="37014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notify='notify-send'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$notify Plop "Message envoyé via $notify"</a:t>
            </a:r>
            <a:endParaRPr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737" name="Google Shape;737;p66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2" name="Google Shape;742;p67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743" name="Google Shape;743;p67"/>
          <p:cNvSpPr txBox="1"/>
          <p:nvPr/>
        </p:nvSpPr>
        <p:spPr>
          <a:xfrm>
            <a:off x="355104" y="978900"/>
            <a:ext cx="5130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Substitution de commandes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44" name="Google Shape;744;p67"/>
          <p:cNvSpPr txBox="1"/>
          <p:nvPr/>
        </p:nvSpPr>
        <p:spPr>
          <a:xfrm>
            <a:off x="355959" y="1737150"/>
            <a:ext cx="13149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Récupérer le résultat d'une commande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5" name="Google Shape;745;p67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Récupérer le résultat d'une commande au lieu de l'afficher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Syntaxe :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$(commande)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Utilisation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Stocker dans une variable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Utiliser dans une autre commande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6" name="Google Shape;746;p67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747" name="Google Shape;74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8" name="Google Shape;748;p67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749" name="Google Shape;749;p67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50" name="Google Shape;750;p67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51" name="Google Shape;751;p67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52" name="Google Shape;752;p67"/>
          <p:cNvSpPr/>
          <p:nvPr/>
        </p:nvSpPr>
        <p:spPr>
          <a:xfrm>
            <a:off x="5442750" y="1409675"/>
            <a:ext cx="34716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id -u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1000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myUID=$(id -u)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$myUID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1000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753" name="Google Shape;753;p67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8" name="Google Shape;758;p68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759" name="Google Shape;759;p68"/>
          <p:cNvSpPr txBox="1"/>
          <p:nvPr/>
        </p:nvSpPr>
        <p:spPr>
          <a:xfrm>
            <a:off x="355104" y="978900"/>
            <a:ext cx="5130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Substitution arithmétique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60" name="Google Shape;760;p68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Faire des calculs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61" name="Google Shape;761;p68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Effectuer un calcul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Syntaxe :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$(( &lt;operation&gt; ))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2" name="Google Shape;762;p68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763" name="Google Shape;76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4" name="Google Shape;764;p68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765" name="Google Shape;765;p68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66" name="Google Shape;766;p68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67" name="Google Shape;767;p68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68" name="Google Shape;768;p68"/>
          <p:cNvSpPr/>
          <p:nvPr/>
        </p:nvSpPr>
        <p:spPr>
          <a:xfrm>
            <a:off x="5442750" y="1409675"/>
            <a:ext cx="34716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$(( 12 * 6 ))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72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total=$(( 7 + 3 ))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$(( $total * 2 + 1 ))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21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769" name="Google Shape;769;p68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4" name="Google Shape;774;p69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775" name="Google Shape;775;p69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Variables spéciales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76" name="Google Shape;776;p69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Variables prédéfinies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7" name="Google Shape;777;p69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$0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Nom du script invoqué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$#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Nombre d'arguments du script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$*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les arguments du script en un seul mot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$@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les arguments du script en mots séparés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$1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Le premier argument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$2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Le deuxième argument …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$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Le code de sortie de la dernière commande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$$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Le process ID du shell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$!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Le process ID du dernier job en arrière plan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8" name="Google Shape;778;p69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779" name="Google Shape;779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0" name="Google Shape;780;p69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781" name="Google Shape;781;p69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82" name="Google Shape;782;p69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83" name="Google Shape;783;p69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84" name="Google Shape;784;p69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9" name="Google Shape;789;p70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790" name="Google Shape;790;p70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Shell et variables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91" name="Google Shape;791;p70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Une parenthèse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92" name="Google Shape;792;p70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Lorsqu'on exécute un script via un shell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ce script est exécuté dans un shell fils du shell courant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ce shell se termine à la fin du script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Les variables déclarées dans un shell ne sont pas accessibles dans les autres (même les shell fils)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Pour exécuter un script dans le shell courant :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source &lt;script.sh&gt;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3" name="Google Shape;793;p70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794" name="Google Shape;79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5" name="Google Shape;795;p70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796" name="Google Shape;796;p70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97" name="Google Shape;797;p70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98" name="Google Shape;798;p70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99" name="Google Shape;799;p70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4" name="Google Shape;804;p71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805" name="Google Shape;805;p71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Environnement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06" name="Google Shape;806;p71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Une parenthèse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07" name="Google Shape;807;p71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Certaines variables sont dites d'environnement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Ces variables sont copiées dans chaque shell fils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Mettre une variable dans l'environnement :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export &lt;variable&gt;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env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permet de récupérer la liste des variables d'environnement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8" name="Google Shape;808;p71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809" name="Google Shape;809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0" name="Google Shape;810;p71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811" name="Google Shape;811;p71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12" name="Google Shape;812;p71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13" name="Google Shape;813;p71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14" name="Google Shape;814;p71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9" name="Google Shape;819;p72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820" name="Google Shape;820;p72"/>
          <p:cNvSpPr txBox="1"/>
          <p:nvPr/>
        </p:nvSpPr>
        <p:spPr>
          <a:xfrm>
            <a:off x="355104" y="978900"/>
            <a:ext cx="5130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Un petit exercice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21" name="Google Shape;821;p72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À vous de jouer !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22" name="Google Shape;822;p72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Créer un script qui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affiche le contenu de la variable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variable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met la valeur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‘modified’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dans la variable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variable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affiche le contenu de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variable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Exécuter ce script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Dans un shell, donner à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variable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la valeur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‘initial’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Ré-exécuter le script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3" name="Google Shape;823;p72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824" name="Google Shape;824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5" name="Google Shape;825;p72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826" name="Google Shape;826;p72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27" name="Google Shape;827;p72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28" name="Google Shape;828;p72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29" name="Google Shape;829;p72"/>
          <p:cNvSpPr/>
          <p:nvPr/>
        </p:nvSpPr>
        <p:spPr>
          <a:xfrm>
            <a:off x="5442750" y="1409675"/>
            <a:ext cx="34716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echo $variable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variable=modified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echo $variable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exit 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variable=initial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$variable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initial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./script.sh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modified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$variable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initial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30" name="Google Shape;830;p72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5" name="Google Shape;835;p73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836" name="Google Shape;836;p73"/>
          <p:cNvSpPr txBox="1"/>
          <p:nvPr/>
        </p:nvSpPr>
        <p:spPr>
          <a:xfrm>
            <a:off x="355104" y="978900"/>
            <a:ext cx="5130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Suite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À vous de jouer !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8" name="Google Shape;838;p73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Dans un shell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donner à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variable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la valeur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initial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exporter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variable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Ré-exécuter le script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afficher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variable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Dans un autre shell distinct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afficher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variable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9" name="Google Shape;839;p73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840" name="Google Shape;84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1" name="Google Shape;841;p73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842" name="Google Shape;842;p73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43" name="Google Shape;843;p73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44" name="Google Shape;844;p73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45" name="Google Shape;845;p73"/>
          <p:cNvSpPr/>
          <p:nvPr/>
        </p:nvSpPr>
        <p:spPr>
          <a:xfrm>
            <a:off x="5442750" y="669275"/>
            <a:ext cx="3471600" cy="30891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echo $variable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variable=modified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echo $variable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exit 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variable=initial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export variable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./script.sh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initial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modified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$variable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initial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46" name="Google Shape;846;p73"/>
          <p:cNvSpPr/>
          <p:nvPr/>
        </p:nvSpPr>
        <p:spPr>
          <a:xfrm>
            <a:off x="5442750" y="4150550"/>
            <a:ext cx="3471600" cy="5991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$variable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47" name="Google Shape;847;p73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2" name="Google Shape;852;p74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853" name="Google Shape;853;p74"/>
          <p:cNvSpPr txBox="1"/>
          <p:nvPr/>
        </p:nvSpPr>
        <p:spPr>
          <a:xfrm>
            <a:off x="355104" y="978900"/>
            <a:ext cx="5130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Et fin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54" name="Google Shape;854;p74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À vous de jouer !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55" name="Google Shape;855;p74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Supprimer le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exit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du script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Dans un nouveau shell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donner à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variable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la valeur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initial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Exécuter le script avec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source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afficher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variable</a:t>
            </a:r>
            <a:endParaRPr b="1"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56" name="Google Shape;856;p74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857" name="Google Shape;857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8" name="Google Shape;858;p74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859" name="Google Shape;859;p74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60" name="Google Shape;860;p74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61" name="Google Shape;861;p74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62" name="Google Shape;862;p74"/>
          <p:cNvSpPr/>
          <p:nvPr/>
        </p:nvSpPr>
        <p:spPr>
          <a:xfrm>
            <a:off x="5442750" y="1409675"/>
            <a:ext cx="34716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head -$(($(wc -l &lt; script.sh)-1)) script.sh &gt; scriptnoexit.sh &amp;&amp; chmod u+x scriptnoexit.sh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variable=initial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$variable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initial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source ./scriptnoexit.sh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initial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modified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echo $variable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modified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3" name="Google Shape;863;p74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8" name="Google Shape;868;p75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869" name="Google Shape;869;p75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Synthèse sur les variables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70" name="Google Shape;870;p75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Pour résumer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71" name="Google Shape;871;p75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source &lt;script.sh&gt;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Exécution du script dans le shell courant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La modification des variables dans le script affecte le shell courant =&gt; </a:t>
            </a:r>
            <a:r>
              <a:rPr lang="fr" sz="1900" u="sng">
                <a:latin typeface="Proxima Nova"/>
                <a:ea typeface="Proxima Nova"/>
                <a:cs typeface="Proxima Nova"/>
                <a:sym typeface="Proxima Nova"/>
              </a:rPr>
              <a:t>le script agit sur le shell courant</a:t>
            </a:r>
            <a:endParaRPr sz="1900" u="sng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export &lt;variable&gt;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La variable est disponible dans l’environnement du shell courant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Un script exécuté dans ce shell hérite de cette variable =&gt; </a:t>
            </a:r>
            <a:r>
              <a:rPr lang="fr" sz="1900" u="sng">
                <a:latin typeface="Proxima Nova"/>
                <a:ea typeface="Proxima Nova"/>
                <a:cs typeface="Proxima Nova"/>
                <a:sym typeface="Proxima Nova"/>
              </a:rPr>
              <a:t>le shell parent prépare les variables pour les shell enfants</a:t>
            </a:r>
            <a:endParaRPr sz="1900" u="sng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2" name="Google Shape;872;p75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873" name="Google Shape;873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4" name="Google Shape;874;p75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875" name="Google Shape;875;p75"/>
          <p:cNvSpPr txBox="1"/>
          <p:nvPr/>
        </p:nvSpPr>
        <p:spPr>
          <a:xfrm>
            <a:off x="1040494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Définition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76" name="Google Shape;876;p75"/>
          <p:cNvSpPr txBox="1"/>
          <p:nvPr/>
        </p:nvSpPr>
        <p:spPr>
          <a:xfrm>
            <a:off x="6661002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variables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77" name="Google Shape;877;p75"/>
          <p:cNvSpPr txBox="1"/>
          <p:nvPr/>
        </p:nvSpPr>
        <p:spPr>
          <a:xfrm>
            <a:off x="3850760" y="134925"/>
            <a:ext cx="1437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La base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78" name="Google Shape;878;p75"/>
          <p:cNvSpPr/>
          <p:nvPr/>
        </p:nvSpPr>
        <p:spPr>
          <a:xfrm>
            <a:off x="7123013" y="35002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3" name="Google Shape;883;p76"/>
          <p:cNvCxnSpPr/>
          <p:nvPr/>
        </p:nvCxnSpPr>
        <p:spPr>
          <a:xfrm>
            <a:off x="1398086" y="1993275"/>
            <a:ext cx="908700" cy="0"/>
          </a:xfrm>
          <a:prstGeom prst="straightConnector1">
            <a:avLst/>
          </a:prstGeom>
          <a:noFill/>
          <a:ln cap="flat" cmpd="sng" w="25400">
            <a:solidFill>
              <a:srgbClr val="000000">
                <a:alpha val="50199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884" name="Google Shape;884;p76"/>
          <p:cNvSpPr txBox="1"/>
          <p:nvPr/>
        </p:nvSpPr>
        <p:spPr>
          <a:xfrm>
            <a:off x="1408574" y="1578042"/>
            <a:ext cx="1722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Références</a:t>
            </a:r>
            <a:endParaRPr sz="5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85" name="Google Shape;885;p76"/>
          <p:cNvSpPr txBox="1"/>
          <p:nvPr/>
        </p:nvSpPr>
        <p:spPr>
          <a:xfrm>
            <a:off x="1401876" y="2339225"/>
            <a:ext cx="3930300" cy="20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La doc officielle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Le wikibooks : Programmation Bash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5"/>
              </a:rPr>
              <a:t>Le Wiki Bash Hackers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6"/>
              </a:rPr>
              <a:t>Le Bash Guide de Greg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7"/>
              </a:rPr>
              <a:t>ExplainShell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roxima Nova"/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descr="logo_wild_code_school (2).png" id="886" name="Google Shape;886;p7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10773" y="2183128"/>
            <a:ext cx="2878072" cy="921802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6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888" name="Google Shape;888;p7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9" name="Google Shape;889;p76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4" name="Google Shape;894;p77"/>
          <p:cNvCxnSpPr/>
          <p:nvPr/>
        </p:nvCxnSpPr>
        <p:spPr>
          <a:xfrm>
            <a:off x="1398086" y="1993275"/>
            <a:ext cx="908700" cy="0"/>
          </a:xfrm>
          <a:prstGeom prst="straightConnector1">
            <a:avLst/>
          </a:prstGeom>
          <a:noFill/>
          <a:ln cap="flat" cmpd="sng" w="25400">
            <a:solidFill>
              <a:srgbClr val="000000">
                <a:alpha val="50199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895" name="Google Shape;895;p77"/>
          <p:cNvSpPr txBox="1"/>
          <p:nvPr/>
        </p:nvSpPr>
        <p:spPr>
          <a:xfrm>
            <a:off x="1408574" y="1578042"/>
            <a:ext cx="1722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Conclusion</a:t>
            </a:r>
            <a:endParaRPr sz="5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96" name="Google Shape;896;p77"/>
          <p:cNvSpPr txBox="1"/>
          <p:nvPr/>
        </p:nvSpPr>
        <p:spPr>
          <a:xfrm>
            <a:off x="1401873" y="2339231"/>
            <a:ext cx="25662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Détails complet sur les variables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descr="logo_wild_code_school (2).png" id="897" name="Google Shape;897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773" y="2183128"/>
            <a:ext cx="2878072" cy="921802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77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899" name="Google Shape;899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0" name="Google Shape;900;p77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ild Code Schoo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