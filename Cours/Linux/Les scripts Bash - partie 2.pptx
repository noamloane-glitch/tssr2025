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Montserrat SemiBold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Proxima Nova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Varela Round"/>
      <p:regular r:id="rId48"/>
    </p:embeddedFont>
    <p:embeddedFont>
      <p:font typeface="Raleway Light"/>
      <p:regular r:id="rId49"/>
      <p:bold r:id="rId50"/>
      <p:italic r:id="rId51"/>
      <p:boldItalic r:id="rId52"/>
    </p:embeddedFont>
    <p:embeddedFont>
      <p:font typeface="Helvetica Neue"/>
      <p:regular r:id="rId53"/>
      <p:bold r:id="rId54"/>
      <p:italic r:id="rId55"/>
      <p:boldItalic r:id="rId56"/>
    </p:embeddedFont>
    <p:embeddedFont>
      <p:font typeface="Montserrat ExtraBold"/>
      <p:bold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MontserratMedium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MontserratMedium-italic.fntdata"/><Relationship Id="rId45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VarelaRound-regular.fntdata"/><Relationship Id="rId47" Type="http://schemas.openxmlformats.org/officeDocument/2006/relationships/font" Target="fonts/MontserratMedium-boldItalic.fntdata"/><Relationship Id="rId49" Type="http://schemas.openxmlformats.org/officeDocument/2006/relationships/font" Target="fonts/Raleway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SemiBold-boldItalic.fntdata"/><Relationship Id="rId30" Type="http://schemas.openxmlformats.org/officeDocument/2006/relationships/font" Target="fonts/MontserratSemiBold-italic.fntdata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ProximaNova-bold.fntdata"/><Relationship Id="rId36" Type="http://schemas.openxmlformats.org/officeDocument/2006/relationships/font" Target="fonts/ProximaNova-regular.fntdata"/><Relationship Id="rId39" Type="http://schemas.openxmlformats.org/officeDocument/2006/relationships/font" Target="fonts/ProximaNova-boldItalic.fntdata"/><Relationship Id="rId38" Type="http://schemas.openxmlformats.org/officeDocument/2006/relationships/font" Target="fonts/ProximaNova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aleway-regular.fntdata"/><Relationship Id="rId23" Type="http://schemas.openxmlformats.org/officeDocument/2006/relationships/slide" Target="slides/slide19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MontserratSemiBold-regular.fntdata"/><Relationship Id="rId27" Type="http://schemas.openxmlformats.org/officeDocument/2006/relationships/font" Target="fonts/Raleway-boldItalic.fntdata"/><Relationship Id="rId29" Type="http://schemas.openxmlformats.org/officeDocument/2006/relationships/font" Target="fonts/MontserratSemiBold-bold.fntdata"/><Relationship Id="rId51" Type="http://schemas.openxmlformats.org/officeDocument/2006/relationships/font" Target="fonts/RalewayLight-italic.fntdata"/><Relationship Id="rId50" Type="http://schemas.openxmlformats.org/officeDocument/2006/relationships/font" Target="fonts/RalewayLight-bold.fntdata"/><Relationship Id="rId53" Type="http://schemas.openxmlformats.org/officeDocument/2006/relationships/font" Target="fonts/HelveticaNeue-regular.fntdata"/><Relationship Id="rId52" Type="http://schemas.openxmlformats.org/officeDocument/2006/relationships/font" Target="fonts/RalewayLight-boldItalic.fntdata"/><Relationship Id="rId11" Type="http://schemas.openxmlformats.org/officeDocument/2006/relationships/slide" Target="slides/slide7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6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9.xml"/><Relationship Id="rId57" Type="http://schemas.openxmlformats.org/officeDocument/2006/relationships/font" Target="fonts/MontserratExtraBold-bold.fntdata"/><Relationship Id="rId12" Type="http://schemas.openxmlformats.org/officeDocument/2006/relationships/slide" Target="slides/slide8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MontserratExtraBold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e86599ca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28e86599ca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3d6c825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a13d6c825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e86599ca5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28e86599ca5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e86599ca5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28e86599ca5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8e86599ca5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28e86599ca5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8e86599ca5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28e86599ca5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e86599ca5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g28e86599ca5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8e86599ca5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g28e86599ca5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e86599ca5_0_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g28e86599ca5_0_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8e86599ca5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8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SI "mavariable" est plus grande que "12"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ALORS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Afficher un message d'erreur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FIN SI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⇒</a:t>
            </a:r>
            <a:endParaRPr>
              <a:solidFill>
                <a:schemeClr val="dk1"/>
              </a:solidFill>
            </a:endParaRPr>
          </a:p>
          <a:p>
            <a:pPr indent="0" lvl="0" marL="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770088"/>
                </a:solidFill>
                <a:highlight>
                  <a:schemeClr val="lt1"/>
                </a:highlight>
              </a:rPr>
              <a:t>if</a:t>
            </a: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[ </a:t>
            </a:r>
            <a:r>
              <a:rPr lang="fr">
                <a:solidFill>
                  <a:srgbClr val="0000FF"/>
                </a:solidFill>
                <a:highlight>
                  <a:schemeClr val="lt1"/>
                </a:highlight>
              </a:rPr>
              <a:t>$mavariable</a:t>
            </a: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fr">
                <a:solidFill>
                  <a:srgbClr val="0000CC"/>
                </a:solidFill>
                <a:highlight>
                  <a:schemeClr val="lt1"/>
                </a:highlight>
              </a:rPr>
              <a:t>-gt</a:t>
            </a: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fr">
                <a:solidFill>
                  <a:srgbClr val="116644"/>
                </a:solidFill>
                <a:highlight>
                  <a:schemeClr val="lt1"/>
                </a:highlight>
              </a:rPr>
              <a:t>12</a:t>
            </a: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]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770088"/>
                </a:solidFill>
                <a:highlight>
                  <a:schemeClr val="lt1"/>
                </a:highlight>
              </a:rPr>
              <a:t>then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fr">
                <a:solidFill>
                  <a:srgbClr val="3300AA"/>
                </a:solidFill>
                <a:highlight>
                  <a:schemeClr val="lt1"/>
                </a:highlight>
              </a:rPr>
              <a:t>echo</a:t>
            </a:r>
            <a:r>
              <a:rPr lang="fr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fr">
                <a:solidFill>
                  <a:srgbClr val="AA1111"/>
                </a:solidFill>
                <a:highlight>
                  <a:schemeClr val="lt1"/>
                </a:highlight>
              </a:rPr>
              <a:t>"Error"</a:t>
            </a:r>
            <a:endParaRPr sz="900">
              <a:solidFill>
                <a:srgbClr val="676767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770088"/>
                </a:solidFill>
                <a:highlight>
                  <a:schemeClr val="lt1"/>
                </a:highlight>
              </a:rPr>
              <a:t>fi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g28e86599ca5_0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8e86599ca5_0_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28e86599ca5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08e059a54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g3a08e059a54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08e059a54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g3a08e059a54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08e059a54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g3a08e059a54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08e059a54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3a08e059a54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08e059a54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g3a08e059a54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08e059a54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g3a08e059a54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e86599ca5_0_1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28e86599ca5_0_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8e86599ca5_0_1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28e86599ca5_0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" type="title">
  <p:cSld name="TITLE">
    <p:bg>
      <p:bgPr>
        <a:solidFill>
          <a:srgbClr val="F76C6C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0900" y="769825"/>
            <a:ext cx="2442474" cy="36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35550" y="159845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3036450" y="3225675"/>
            <a:ext cx="307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solidFill>
          <a:srgbClr val="F9979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70290" y="771750"/>
            <a:ext cx="2803416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 1">
  <p:cSld name="TITLE_1_1">
    <p:bg>
      <p:bgPr>
        <a:solidFill>
          <a:srgbClr val="F76C6C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258" l="0" r="0" t="258"/>
          <a:stretch/>
        </p:blipFill>
        <p:spPr>
          <a:xfrm rot="10800000">
            <a:off x="3170289" y="771750"/>
            <a:ext cx="2803417" cy="35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99150" y="1973574"/>
            <a:ext cx="3545702" cy="1196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ONE_COLUMN_TEXT">
    <p:bg>
      <p:bgPr>
        <a:solidFill>
          <a:srgbClr val="F99797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254900" y="1718925"/>
            <a:ext cx="27837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title"/>
          </p:nvPr>
        </p:nvSpPr>
        <p:spPr>
          <a:xfrm>
            <a:off x="3962400" y="2002350"/>
            <a:ext cx="3972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038600" y="2679825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025" y="777875"/>
            <a:ext cx="3414675" cy="26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">
  <p:cSld name="ONE_COLUMN_TEXT_2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1245600" y="882000"/>
            <a:ext cx="6791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3" type="subTitle"/>
          </p:nvPr>
        </p:nvSpPr>
        <p:spPr>
          <a:xfrm>
            <a:off x="1249200" y="1414800"/>
            <a:ext cx="679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4" type="body"/>
          </p:nvPr>
        </p:nvSpPr>
        <p:spPr>
          <a:xfrm>
            <a:off x="1249200" y="1998600"/>
            <a:ext cx="67914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 Split">
  <p:cSld name="ONE_COLUMN_TEXT_2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126000" y="1998600"/>
            <a:ext cx="44259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3" type="title"/>
          </p:nvPr>
        </p:nvSpPr>
        <p:spPr>
          <a:xfrm>
            <a:off x="126815" y="1009050"/>
            <a:ext cx="44259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4" type="subTitle"/>
          </p:nvPr>
        </p:nvSpPr>
        <p:spPr>
          <a:xfrm>
            <a:off x="126815" y="1719575"/>
            <a:ext cx="4425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 with Patern">
  <p:cSld name="ONE_COLUMN_TEXT_2_1_1">
    <p:bg>
      <p:bgPr>
        <a:solidFill>
          <a:srgbClr val="F76C6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637" y="1"/>
            <a:ext cx="6372362" cy="51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">
  <p:cSld name="ONE_COLUMN_TEXT_2_1_1_2">
    <p:bg>
      <p:bgPr>
        <a:solidFill>
          <a:srgbClr val="F76C6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Patern">
  <p:cSld name="ONE_COLUMN_TEXT_2_1_1_1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000" y="0"/>
            <a:ext cx="6371999" cy="5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ONE_COLUMN_TEXT_2_1_1_1_1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2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Char char="●"/>
              <a:defRPr b="1"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">
  <p:cSld name="ONE_COLUMN_TEXT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1">
  <p:cSld name="TITLE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">
  <p:cSld name="ONE_COLUMN_TEXT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1">
  <p:cSld name="ONE_COLUMN_TEXT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2">
  <p:cSld name="TITLE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2">
  <p:cSld name="ONE_COLUMN_TEXT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3">
  <p:cSld name="ONE_COLUMN_TEXT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3">
  <p:cSld name="TITLE_5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2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4">
  <p:cSld name="ONE_COLUMN_TEXT_5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 1">
  <p:cSld name="ONE_COLUMN_TEXT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130" name="Google Shape;130;p25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LE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1">
  <p:cSld name="TITLE_2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2">
  <p:cSld name="TITLE_6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2 1">
  <p:cSld name="TITLE_6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gnu.org/software/bash/manual/" TargetMode="External"/><Relationship Id="rId4" Type="http://schemas.openxmlformats.org/officeDocument/2006/relationships/hyperlink" Target="https://fr.wikibooks.org/wiki/Programmation_Bash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wiki.bash-hackers.org" TargetMode="External"/><Relationship Id="rId6" Type="http://schemas.openxmlformats.org/officeDocument/2006/relationships/hyperlink" Target="http://mywiki.wooledge.org/BashGuide" TargetMode="External"/><Relationship Id="rId7" Type="http://schemas.openxmlformats.org/officeDocument/2006/relationships/hyperlink" Target="https://explainshell.com/" TargetMode="External"/><Relationship Id="rId8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58" name="Google Shape;1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033" y="-988226"/>
            <a:ext cx="5613778" cy="40956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500562" y="4905375"/>
            <a:ext cx="1383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1099884" y="1116375"/>
            <a:ext cx="4696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Les scripts Bash</a:t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1118264" y="3108465"/>
            <a:ext cx="3386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"/>
              <a:buNone/>
            </a:pPr>
            <a:r>
              <a:rPr lang="fr">
                <a:latin typeface="Montserrat Medium"/>
                <a:ea typeface="Montserrat Medium"/>
                <a:cs typeface="Montserrat Medium"/>
                <a:sym typeface="Montserrat Medium"/>
              </a:rPr>
              <a:t>Partie 2 - Logique de scripting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66" name="Google Shape;1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3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68" name="Google Shape;168;p31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Sommaire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Au menu :</a:t>
            </a:r>
            <a:endParaRPr sz="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70" name="Google Shape;170;p31"/>
          <p:cNvGrpSpPr/>
          <p:nvPr/>
        </p:nvGrpSpPr>
        <p:grpSpPr>
          <a:xfrm>
            <a:off x="2054304" y="2295701"/>
            <a:ext cx="4924070" cy="438638"/>
            <a:chOff x="4269994" y="8021650"/>
            <a:chExt cx="13130853" cy="1169700"/>
          </a:xfrm>
        </p:grpSpPr>
        <p:sp>
          <p:nvSpPr>
            <p:cNvPr id="171" name="Google Shape;171;p31"/>
            <p:cNvSpPr txBox="1"/>
            <p:nvPr/>
          </p:nvSpPr>
          <p:spPr>
            <a:xfrm>
              <a:off x="4269994" y="8021650"/>
              <a:ext cx="1573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2" name="Google Shape;172;p31"/>
            <p:cNvSpPr txBox="1"/>
            <p:nvPr/>
          </p:nvSpPr>
          <p:spPr>
            <a:xfrm>
              <a:off x="6983047" y="8160250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structures itératives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73" name="Google Shape;173;p31"/>
          <p:cNvGrpSpPr/>
          <p:nvPr/>
        </p:nvGrpSpPr>
        <p:grpSpPr>
          <a:xfrm>
            <a:off x="2054304" y="1669435"/>
            <a:ext cx="4924070" cy="438638"/>
            <a:chOff x="4269994" y="6149551"/>
            <a:chExt cx="13130853" cy="1169700"/>
          </a:xfrm>
        </p:grpSpPr>
        <p:sp>
          <p:nvSpPr>
            <p:cNvPr id="174" name="Google Shape;174;p31"/>
            <p:cNvSpPr txBox="1"/>
            <p:nvPr/>
          </p:nvSpPr>
          <p:spPr>
            <a:xfrm>
              <a:off x="4269994" y="6149551"/>
              <a:ext cx="1195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5" name="Google Shape;175;p31"/>
            <p:cNvSpPr txBox="1"/>
            <p:nvPr/>
          </p:nvSpPr>
          <p:spPr>
            <a:xfrm>
              <a:off x="6983047" y="6288151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structures conditionnelles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cxnSp>
        <p:nvCxnSpPr>
          <p:cNvPr id="177" name="Google Shape;177;p3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82" name="Google Shape;182;p32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4" name="Google Shape;184;p32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185" name="Google Shape;1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87" name="Google Shape;187;p32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3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95" name="Google Shape;195;p33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tests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Vrai ou faux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bash, un test est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vrai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s'il vaut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faux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s'il vaut n'importe quelle autre valeur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Ainsi, le code de sortie (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status code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) d'une commande qui a réussi équivaut à vrai et celui d'une commande qui a échouée équivaut à faux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On peut aussi construire des tests avec des opérateurs particuliers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avec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[ &lt;le test&gt; ]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ou avec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test &lt;le test&gt;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199" name="Google Shape;1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01" name="Google Shape;201;p33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3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09" name="Google Shape;209;p34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Codes de retour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 exemple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Rappel :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$?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permet de récupérer le code de sortie de la dernière commande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3" name="Google Shape;213;p34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mkdir newDir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mkdir newDir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mkdir: impossible de créer le répertoire «newDir»: Le fichier existe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14" name="Google Shape;2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3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16" name="Google Shape;216;p34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3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24" name="Google Shape;224;p35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Comparaison de chaînes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355959" y="1737150"/>
            <a:ext cx="1314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Tester des chaînes de caractères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Supposons 2 chaînes s1 et s2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s1 = s2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les chaînes sont identiques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s1 != s2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les chaînes sont différentes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-z s1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s1 est vide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-n s1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s1 n'est pas vide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Note : Attention aux espaces !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8" name="Google Shape;228;p35"/>
          <p:cNvSpPr/>
          <p:nvPr/>
        </p:nvSpPr>
        <p:spPr>
          <a:xfrm>
            <a:off x="5442750" y="1409675"/>
            <a:ext cx="3615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test 'identique' = 'identique'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echo $?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0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test 'identique' = 'différent'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echo $?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1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[ 'identique' = 'identique'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echo $?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0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[ 'identique' != 'différent'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echo $?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0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[ -z '' ]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 sz="1200">
                <a:solidFill>
                  <a:schemeClr val="lt1"/>
                </a:solidFill>
              </a:rPr>
              <a:t> echo $?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0</a:t>
            </a:r>
            <a:endParaRPr sz="1200">
              <a:solidFill>
                <a:srgbClr val="00FF00"/>
              </a:solidFill>
            </a:endParaRPr>
          </a:p>
        </p:txBody>
      </p:sp>
      <p:pic>
        <p:nvPicPr>
          <p:cNvPr descr="icone_wild_code_school.png" id="229" name="Google Shape;2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31" name="Google Shape;231;p35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2" name="Google Shape;232;p35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39" name="Google Shape;239;p36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Comparaison de nombres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Et avec des nombres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Supposons 2 nombres n1 et n2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n1 -eq n2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 vrai si les nombres sont égaux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n1 -ne n2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 0 si les nombres sont différents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n1 -lt n2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n1 &lt; n2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n1 -le n2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n1 &lt;= n2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n1 -gt n2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n1 &gt; n2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n1 -ge n2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n1 &gt;= n2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3" name="Google Shape;243;p36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trois=3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$trois -eq 3 ]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[ 2 -ne $trois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deux=2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$deux -lt $trois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44" name="Google Shape;2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3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46" name="Google Shape;246;p36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7" name="Google Shape;247;p36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3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54" name="Google Shape;254;p37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Opérateurs logiques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Et avec des combinaisons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Supposons c1 et c2 des conditions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! c1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NON logique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(vrai si c1 est faux et vice versa)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c1 -a c2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ET logique (vrai si c1 et c2 vrai)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c1 -o c2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OU logique (faux si c1 et c2 faux)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7" name="Google Shape;257;p3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58" name="Google Shape;258;p37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trois=3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! $trois -eq 3 ]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[ 2 -lt $trois -a $trois -lt 4 ]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59" name="Google Shape;2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3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61" name="Google Shape;261;p37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2" name="Google Shape;262;p37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3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69" name="Google Shape;269;p38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Opérateurs sur les fichiers/dossiers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Et avec les fichiers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Supposons p un chemin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-e p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p existe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-s p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p existe et de taille &gt; 0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-f p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 vrai si p est un fichier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-d p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p est un dossier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-r p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vrai si je peux lire p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-w p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 vrai si je peux écrire p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-x p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 vrai si je peux exécuter p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" name="Google Shape;272;p3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73" name="Google Shape;273;p38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-e /tmp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-f /etc/passwd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-r /etc/passwd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[ -w /etc/passwd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74" name="Google Shape;2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3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76" name="Google Shape;276;p38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7" name="Google Shape;277;p38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3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84" name="Google Shape;284;p39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Si … Sinon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Et si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Structure conditionnelle if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if condition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then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	instructions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elif conditions2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(optionnel)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then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	instructions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else	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(optionnel)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	instructions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fi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88" name="Google Shape;288;p39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if mkdir newDir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then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    echo "Création dossier succès"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else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    echo "Création dossier échec"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fi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if [ ! -e newDir ];then mkdir newDir; else echo "newDir existe déjà";fi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89" name="Google Shape;2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39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91" name="Google Shape;291;p39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2" name="Google Shape;292;p39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4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99" name="Google Shape;299;p40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Case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Enumérer les cas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Structure conditionnelle case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case valeur in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valeur1) instructions;;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valeur2 | valeur3) instructions;;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*) instructions par défaut;;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esac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2" name="Google Shape;302;p4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3" name="Google Shape;303;p40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case $choice in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1)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	echo "choix 1"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	echo "Merci";;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2)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	echo "choix 2"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	echo "Bon choix";;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esac</a:t>
            </a:r>
            <a:endParaRPr sz="1800">
              <a:solidFill>
                <a:srgbClr val="3B42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case $choice in 1) echo "choix 1";; 2) echo "choix2 ";; esac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304" name="Google Shape;30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4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06" name="Google Shape;306;p40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7" name="Google Shape;307;p40"/>
          <p:cNvSpPr/>
          <p:nvPr/>
        </p:nvSpPr>
        <p:spPr>
          <a:xfrm>
            <a:off x="31712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313" name="Google Shape;313;p41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1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5" name="Google Shape;315;p4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316" name="Google Shape;3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4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18" name="Google Shape;318;p41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0" name="Google Shape;320;p41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4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26" name="Google Shape;326;p42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Structure itérative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algorithmique, on appelle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structure itérative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, une construction d'un langage qui permet la répétition d'instructions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C'est à dire de portions de code dont l'exécution va être effectuée un nombre de fois donné ou tant qu'une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condition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est remplie.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Il est courant de les qualifier de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boucles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9" name="Google Shape;329;p4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330" name="Google Shape;3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4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32" name="Google Shape;332;p42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3" name="Google Shape;333;p42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4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40" name="Google Shape;340;p43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Boucle for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Boucler sur une liste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Structure itérative for</a:t>
            </a:r>
            <a:b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for variable in liste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do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instructions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done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Liste pouvant être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Une suite de mots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Le résultat d'une substitution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Le résultat d'une commande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for word in "One" "Two" "Three"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	echo $word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done 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for number in $(seq 3 -1 0); do echo $number; done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My own ls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for path in *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echo $path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done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345" name="Google Shape;3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4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47" name="Google Shape;347;p43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43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4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55" name="Google Shape;355;p44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arguments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Créer un script qui affiche la liste de ses arguments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argument par ligne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Numéroté de la forme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1 - Argument1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2 - Argument2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8" name="Google Shape;358;p4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sp>
        <p:nvSpPr>
          <p:cNvPr id="359" name="Google Shape;359;p44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Echo the numbered list of the script's arguments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number=1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for param in $*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echo "$number - $param"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number=$(( $number + 1 ))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done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360" name="Google Shape;3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4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62" name="Google Shape;362;p44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4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70" name="Google Shape;370;p45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Boucle for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L'autre for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For (alternative)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for ((e1 ; e2 ; e3 ))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do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instructions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done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e1, e2 et e3 sont des expressions arithmétiques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-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e1 : effectuée une fois au début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-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e2 : continue tant que e2 est vraie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-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e3 : effectuée après chaque tour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3" name="Google Shape;373;p4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for (( i=1 ; i &lt; 4 ; i++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	echo $i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done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cone_wild_code_school.png" id="375" name="Google Shape;3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4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77" name="Google Shape;377;p45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9" name="Google Shape;379;p45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4" name="Google Shape;384;p4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85" name="Google Shape;385;p46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Boucle while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6" name="Google Shape;386;p46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Boucler sur une liste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7" name="Google Shape;387;p46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Structure conditionnelle while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while &lt;condition&gt;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do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instructions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done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number=3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while [ $number -ge 0 ]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	echo $number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	number=$(( $number - 1 ))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done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0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390" name="Google Shape;3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4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92" name="Google Shape;392;p46"/>
          <p:cNvSpPr txBox="1"/>
          <p:nvPr/>
        </p:nvSpPr>
        <p:spPr>
          <a:xfrm>
            <a:off x="21558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conditionnelles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57158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4" name="Google Shape;394;p46"/>
          <p:cNvSpPr txBox="1"/>
          <p:nvPr/>
        </p:nvSpPr>
        <p:spPr>
          <a:xfrm>
            <a:off x="4700442" y="12725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structures itératives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47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00" name="Google Shape;400;p47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Références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01" name="Google Shape;401;p47"/>
          <p:cNvSpPr txBox="1"/>
          <p:nvPr/>
        </p:nvSpPr>
        <p:spPr>
          <a:xfrm>
            <a:off x="1401876" y="2339225"/>
            <a:ext cx="39303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La doc officielle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Le wikibooks : Programmation Bash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Le Wiki Bash Hackers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Le Bash Guide de Greg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7"/>
              </a:rPr>
              <a:t>ExplainShell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roxima Nova"/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_wild_code_school (2).png" id="402" name="Google Shape;40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404" name="Google Shape;404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" name="Google Shape;405;p4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" name="Google Shape;410;p48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11" name="Google Shape;411;p48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1401873" y="2339231"/>
            <a:ext cx="2566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tests de conditions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boucles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_wild_code_school (2).png" id="413" name="Google Shape;4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415" name="Google Shape;41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4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ld Code Schoo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